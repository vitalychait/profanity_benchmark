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3" r:id="rId8"/>
    <p:sldId id="264" r:id="rId9"/>
    <p:sldId id="265" r:id="rId10"/>
    <p:sldId id="267" r:id="rId11"/>
    <p:sldId id="269" r:id="rId12"/>
    <p:sldId id="270" r:id="rId13"/>
    <p:sldId id="268" r:id="rId14"/>
    <p:sldId id="271" r:id="rId15"/>
    <p:sldId id="266"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8"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342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MetaBet — a research and analysis engine that uses blockchain data to uncover insider trading patterns and arbitrage opportunities in decentralized prediction markets, specifically Polymarket on Polygon. The core question: Does the Efficient Market Hypothesis hold in Web3, or does the blockchain leave a permanent, readable trail of market manipulation?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we'll cover in the next 20 minutes. I'll walk through the problem space, the data we're using, our methodology, key findings so far, and potential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problem: Decentralized prediction markets like Polymarket appear efficient on the surface, but coordinated 'whales' consistently position early before events become public. We see patterns like turning a $1K bet into $16M returns — odds that are statistically 1 in 16,000. This isn't luck. The blockchain, uniquely, leaves a permanent trail of this behavior. So the question is: does the Efficient Market Hypothesis hold in Web3, or can we read the blockchain to detect and exploit these patterns?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architecture has three layers. First, on-chain data scraped directly from the Polygon blockchain — wallet addresses, transaction timestamps, and token transfers tied to Polymarket smart contracts. Second, off-chain market data from the Polymarket API — order books, historical pricing, and liquidity metrics. Third, external context data — news feeds, social media from verified accounts, integrated through a RAG architecture. The key insight is comparing WHEN real-world events happen versus WHEN on-chain trades execute.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has three pillars. First, wallet clustering using graph-based analysis — we identify smart money networks and sybil rings through dense block detection, revealing when a single entity operates multiple wallets to hide their trading patterns. Second, statistical and ML models — we use linear regression for price convergence and binomial distribution to separate genuine skill from luck. If someone wins 14 out of 14 binary bets, we can calculate whether that's statistically possible without insider information. Third, latency analysis — we measure the exact time gap between when a real-world event occurs and when the price adjusts on Polymarket, identifying brief arbitrage windows.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go deeper into wallet clustering. On the detection side: we're looking for sybil rings where a single entity controls multiple wallets to disguise their position sizes. We detect smart money networks — wallets that consistently take early, profitable positions. We look for coordinated timing and fund flow patterns between seemingly unrelated addresses. The techniques involve dense block detection in transaction graphs, temporal correlation analysis, deposit/withdrawal pattern matching, and statistical tests for non-random clustering. Real-world validation: some users we've detected have actually been brought to court.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specific findings. First, we've quantified average arbitrage spreads across different market categories — political events and crypto milestones show very different inefficiency profiles. Second, we've mapped the correlation between off-chain news velocity and on-chain trading volume — there are measurable reaction windows. Third, we have anonymized visualizations of clustered wallet behavior. Fourth, we've measured the average lifespan of arbitrage opportunities. The key insight here: because of the decentralized nature and because humans aren't fully rational, there are always price mismatches. These aren't random — they're systematic and exploitable.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distinction: we can clearly separate the tool mechanics from the findings. On the public side, we can share aggregated behavioral patterns, average arbitrage lifespan, general market inefficiency metrics, anonymized visualizations, and real examples of arbitrage opportunities. All of this is already on-chain and publicly accessible — we're just making it legible. On the proprietary side, the scraping modules, RAG system, alert infrastructure, and specific trading strategies remain protected. State agencies like the FBI are already investigating some of the patterns we've independently identified — NPR covered a case of Polymarket traders with Israel military connections.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228C0-8025-37EE-931E-C2AD0E2BA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DF64C-CFE9-05CB-F999-601F9EA55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F662E-B516-0C6F-B582-DB402CAAEAC7}"/>
              </a:ext>
            </a:extLst>
          </p:cNvPr>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a:extLst>
              <a:ext uri="{FF2B5EF4-FFF2-40B4-BE49-F238E27FC236}">
                <a16:creationId xmlns:a16="http://schemas.microsoft.com/office/drawing/2014/main" id="{9FE542FB-62BB-9514-BB6A-9508C69417F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3982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01F7F-E423-3FB4-7FCD-DC1BC4785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EF22C-8520-0678-97EA-97BF61860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F16BEE-12A4-3DB3-F14E-BBAA3C5D31F5}"/>
              </a:ext>
            </a:extLst>
          </p:cNvPr>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a:extLst>
              <a:ext uri="{FF2B5EF4-FFF2-40B4-BE49-F238E27FC236}">
                <a16:creationId xmlns:a16="http://schemas.microsoft.com/office/drawing/2014/main" id="{890A7402-B67B-8C4C-06D9-A920CD9CED1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22573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6462-D127-EB54-BD8C-05A15DAED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3E301-7FB6-8E2F-91AB-EDF89C367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874C9-1A52-6CC2-BC2E-33E0EF87616B}"/>
              </a:ext>
            </a:extLst>
          </p:cNvPr>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a:extLst>
              <a:ext uri="{FF2B5EF4-FFF2-40B4-BE49-F238E27FC236}">
                <a16:creationId xmlns:a16="http://schemas.microsoft.com/office/drawing/2014/main" id="{56E817A1-1F12-BE3D-6EA1-2CC89A77C43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59062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31B8D-50B0-BFCA-D3C4-6013765B9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DF96A-2113-7249-CC48-DAE856873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E5035-B86D-B223-4B4C-B8A55A633E4A}"/>
              </a:ext>
            </a:extLst>
          </p:cNvPr>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a:extLst>
              <a:ext uri="{FF2B5EF4-FFF2-40B4-BE49-F238E27FC236}">
                <a16:creationId xmlns:a16="http://schemas.microsoft.com/office/drawing/2014/main" id="{4D212420-9A70-3818-9F12-EAFB848B73F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31767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2104-7F51-7430-8B56-C7F62E4CA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9D973-1903-470F-1668-F587661C2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25E9F-1511-5B38-650A-32250A37F769}"/>
              </a:ext>
            </a:extLst>
          </p:cNvPr>
          <p:cNvSpPr>
            <a:spLocks noGrp="1"/>
          </p:cNvSpPr>
          <p:nvPr>
            <p:ph type="body" idx="1"/>
          </p:nvPr>
        </p:nvSpPr>
        <p:spPr/>
        <p:txBody>
          <a:bodyPr/>
          <a:lstStyle/>
          <a:p>
            <a:r>
              <a:rPr lang="en-US" dirty="0"/>
              <a:t>Four potential applications. First, a live dashboard and trading bot for automated arbitrage execution with real-time alerts — similar to what Polygains.com offers but with our detection layer. Second, a POLY ETF concept — a fund that algorithmically mirrors verified whale traders to capture their alpha. Third, a general auto-arbitrage engine that captures information mismatches across platforms 24/7. Fourth, and perhaps most impactful for the broader ecosystem: regulatory reporting. We can provide verified analytical packets to federal agencies about coordinated manipulation. This dual-purpose approach — profit AND market integrity — is what makes MetaBet unique.</a:t>
            </a:r>
          </a:p>
        </p:txBody>
      </p:sp>
      <p:sp>
        <p:nvSpPr>
          <p:cNvPr id="4" name="Slide Number Placeholder 3">
            <a:extLst>
              <a:ext uri="{FF2B5EF4-FFF2-40B4-BE49-F238E27FC236}">
                <a16:creationId xmlns:a16="http://schemas.microsoft.com/office/drawing/2014/main" id="{7332DE78-D80D-7B05-CC0B-F26661162F4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05966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blockchain remembers everything. Every trade, every wallet, every timing advantage is permanently recorded. Our contribution is making that data systematically readable. Three takeaways: Markets are NOT efficient — the data proves it with over 500% returns. Blockchain transparency enables forensic-grade analysis that isn't possible in traditional markets. And there's dual value here — both profitable trading AND improving market integrity through regulatory reporting.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1097280"/>
            <a:ext cx="7680960" cy="548640"/>
          </a:xfrm>
          <a:prstGeom prst="rect">
            <a:avLst/>
          </a:prstGeom>
          <a:noFill/>
          <a:ln/>
        </p:spPr>
        <p:txBody>
          <a:bodyPr wrap="square" lIns="0" tIns="0" rIns="0" bIns="0" rtlCol="0" anchor="ctr"/>
          <a:lstStyle/>
          <a:p>
            <a:pPr marL="0" indent="0">
              <a:buNone/>
            </a:pPr>
            <a:r>
              <a:rPr lang="en-US" sz="1600" b="1" kern="0" spc="800" dirty="0">
                <a:solidFill>
                  <a:srgbClr val="B91C1C"/>
                </a:solidFill>
                <a:latin typeface="Trebuchet MS" pitchFamily="34" charset="0"/>
                <a:ea typeface="Trebuchet MS" pitchFamily="34" charset="-122"/>
                <a:cs typeface="Trebuchet MS" pitchFamily="34" charset="-120"/>
              </a:rPr>
              <a:t>METABET</a:t>
            </a:r>
            <a:endParaRPr lang="en-US" sz="1600" dirty="0"/>
          </a:p>
        </p:txBody>
      </p:sp>
      <p:sp>
        <p:nvSpPr>
          <p:cNvPr id="4" name="Text 2"/>
          <p:cNvSpPr/>
          <p:nvPr/>
        </p:nvSpPr>
        <p:spPr>
          <a:xfrm>
            <a:off x="731520" y="1554480"/>
            <a:ext cx="7680960" cy="91440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Uncovering Insider Edge</a:t>
            </a:r>
            <a:endParaRPr lang="en-US" sz="4000" dirty="0"/>
          </a:p>
        </p:txBody>
      </p:sp>
      <p:sp>
        <p:nvSpPr>
          <p:cNvPr id="5" name="Text 3"/>
          <p:cNvSpPr/>
          <p:nvPr/>
        </p:nvSpPr>
        <p:spPr>
          <a:xfrm>
            <a:off x="731520" y="2377440"/>
            <a:ext cx="7680960" cy="548640"/>
          </a:xfrm>
          <a:prstGeom prst="rect">
            <a:avLst/>
          </a:prstGeom>
          <a:noFill/>
          <a:ln/>
        </p:spPr>
        <p:txBody>
          <a:bodyPr wrap="square" lIns="0" tIns="0" rIns="0" bIns="0" rtlCol="0" anchor="ctr"/>
          <a:lstStyle/>
          <a:p>
            <a:pPr marL="0" indent="0">
              <a:buNone/>
            </a:pPr>
            <a:r>
              <a:rPr lang="en-US" sz="2200" i="1" dirty="0">
                <a:solidFill>
                  <a:srgbClr val="94A3B8"/>
                </a:solidFill>
                <a:latin typeface="Calibri" pitchFamily="34" charset="0"/>
                <a:ea typeface="Calibri" pitchFamily="34" charset="-122"/>
                <a:cs typeface="Calibri" pitchFamily="34" charset="-120"/>
              </a:rPr>
              <a:t>From Blockchain Data to Systematic Alpha</a:t>
            </a:r>
            <a:endParaRPr lang="en-US" sz="2200" dirty="0"/>
          </a:p>
        </p:txBody>
      </p:sp>
      <p:sp>
        <p:nvSpPr>
          <p:cNvPr id="6" name="Shape 4"/>
          <p:cNvSpPr/>
          <p:nvPr/>
        </p:nvSpPr>
        <p:spPr>
          <a:xfrm>
            <a:off x="731520" y="3200400"/>
            <a:ext cx="2286000" cy="36576"/>
          </a:xfrm>
          <a:prstGeom prst="rect">
            <a:avLst/>
          </a:prstGeom>
          <a:solidFill>
            <a:srgbClr val="B91C1C"/>
          </a:solidFill>
          <a:ln/>
        </p:spPr>
        <p:txBody>
          <a:bodyPr/>
          <a:lstStyle/>
          <a:p>
            <a:endParaRPr lang="LID4096"/>
          </a:p>
        </p:txBody>
      </p:sp>
      <p:sp>
        <p:nvSpPr>
          <p:cNvPr id="7" name="Text 5"/>
          <p:cNvSpPr/>
          <p:nvPr/>
        </p:nvSpPr>
        <p:spPr>
          <a:xfrm>
            <a:off x="731520" y="3474720"/>
            <a:ext cx="768096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Decentralized Prediction Market Analysis – Vitaly Chait</a:t>
            </a:r>
            <a:endParaRPr lang="en-US" sz="1400" dirty="0"/>
          </a:p>
        </p:txBody>
      </p:sp>
      <p:sp>
        <p:nvSpPr>
          <p:cNvPr id="8" name="Shape 6"/>
          <p:cNvSpPr/>
          <p:nvPr/>
        </p:nvSpPr>
        <p:spPr>
          <a:xfrm>
            <a:off x="0" y="4869180"/>
            <a:ext cx="9144000" cy="274320"/>
          </a:xfrm>
          <a:prstGeom prst="rect">
            <a:avLst/>
          </a:prstGeom>
          <a:solidFill>
            <a:srgbClr val="B91C1C"/>
          </a:solidFill>
          <a:ln/>
        </p:spPr>
        <p:txBody>
          <a:bodyPr/>
          <a:lstStyle/>
          <a:p>
            <a:endParaRPr lang="LID4096"/>
          </a:p>
        </p:txBody>
      </p:sp>
      <p:sp>
        <p:nvSpPr>
          <p:cNvPr id="9" name="Text 7"/>
          <p:cNvSpPr/>
          <p:nvPr/>
        </p:nvSpPr>
        <p:spPr>
          <a:xfrm>
            <a:off x="731520" y="4869180"/>
            <a:ext cx="7680960" cy="274320"/>
          </a:xfrm>
          <a:prstGeom prst="rect">
            <a:avLst/>
          </a:prstGeom>
          <a:noFill/>
          <a:ln/>
        </p:spPr>
        <p:txBody>
          <a:bodyPr wrap="square" lIns="0" tIns="0" rIns="0" bIns="0"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AGENDA</a:t>
            </a:r>
            <a:endParaRPr lang="en-US" sz="3200" dirty="0"/>
          </a:p>
        </p:txBody>
      </p:sp>
      <p:sp>
        <p:nvSpPr>
          <p:cNvPr id="4" name="Shape 2"/>
          <p:cNvSpPr/>
          <p:nvPr/>
        </p:nvSpPr>
        <p:spPr>
          <a:xfrm>
            <a:off x="731520" y="1097280"/>
            <a:ext cx="7680960" cy="59436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5" name="Image 0" descr="preencoded.png"/>
          <p:cNvPicPr>
            <a:picLocks noChangeAspect="1"/>
          </p:cNvPicPr>
          <p:nvPr/>
        </p:nvPicPr>
        <p:blipFill>
          <a:blip r:embed="rId3"/>
          <a:stretch>
            <a:fillRect/>
          </a:stretch>
        </p:blipFill>
        <p:spPr>
          <a:xfrm>
            <a:off x="1005840" y="1207008"/>
            <a:ext cx="365760" cy="365760"/>
          </a:xfrm>
          <a:prstGeom prst="rect">
            <a:avLst/>
          </a:prstGeom>
        </p:spPr>
      </p:pic>
      <p:sp>
        <p:nvSpPr>
          <p:cNvPr id="6" name="Text 3"/>
          <p:cNvSpPr/>
          <p:nvPr/>
        </p:nvSpPr>
        <p:spPr>
          <a:xfrm>
            <a:off x="1554480" y="1097280"/>
            <a:ext cx="2286000" cy="5943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Problem</a:t>
            </a:r>
            <a:endParaRPr lang="en-US" sz="1600" dirty="0"/>
          </a:p>
        </p:txBody>
      </p:sp>
      <p:sp>
        <p:nvSpPr>
          <p:cNvPr id="7" name="Text 4"/>
          <p:cNvSpPr/>
          <p:nvPr/>
        </p:nvSpPr>
        <p:spPr>
          <a:xfrm>
            <a:off x="3840480" y="1097280"/>
            <a:ext cx="438912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Why prediction markets aren't efficient</a:t>
            </a:r>
            <a:endParaRPr lang="en-US" sz="1300" dirty="0"/>
          </a:p>
        </p:txBody>
      </p:sp>
      <p:sp>
        <p:nvSpPr>
          <p:cNvPr id="8" name="Shape 5"/>
          <p:cNvSpPr/>
          <p:nvPr/>
        </p:nvSpPr>
        <p:spPr>
          <a:xfrm>
            <a:off x="731520" y="1828800"/>
            <a:ext cx="7680960" cy="59436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9" name="Image 1" descr="preencoded.png"/>
          <p:cNvPicPr>
            <a:picLocks noChangeAspect="1"/>
          </p:cNvPicPr>
          <p:nvPr/>
        </p:nvPicPr>
        <p:blipFill>
          <a:blip r:embed="rId4"/>
          <a:stretch>
            <a:fillRect/>
          </a:stretch>
        </p:blipFill>
        <p:spPr>
          <a:xfrm>
            <a:off x="1005840" y="1938528"/>
            <a:ext cx="365760" cy="365760"/>
          </a:xfrm>
          <a:prstGeom prst="rect">
            <a:avLst/>
          </a:prstGeom>
        </p:spPr>
      </p:pic>
      <p:sp>
        <p:nvSpPr>
          <p:cNvPr id="10" name="Text 6"/>
          <p:cNvSpPr/>
          <p:nvPr/>
        </p:nvSpPr>
        <p:spPr>
          <a:xfrm>
            <a:off x="1554480" y="1828800"/>
            <a:ext cx="2286000" cy="5943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Data Sources</a:t>
            </a:r>
            <a:endParaRPr lang="en-US" sz="1600" dirty="0"/>
          </a:p>
        </p:txBody>
      </p:sp>
      <p:sp>
        <p:nvSpPr>
          <p:cNvPr id="11" name="Text 7"/>
          <p:cNvSpPr/>
          <p:nvPr/>
        </p:nvSpPr>
        <p:spPr>
          <a:xfrm>
            <a:off x="3840480" y="1828800"/>
            <a:ext cx="438912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On-chain, off-chain, and external context</a:t>
            </a:r>
            <a:endParaRPr lang="en-US" sz="1300" dirty="0"/>
          </a:p>
        </p:txBody>
      </p:sp>
      <p:sp>
        <p:nvSpPr>
          <p:cNvPr id="12" name="Shape 8"/>
          <p:cNvSpPr/>
          <p:nvPr/>
        </p:nvSpPr>
        <p:spPr>
          <a:xfrm>
            <a:off x="731520" y="2560320"/>
            <a:ext cx="7680960" cy="59436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13" name="Image 2" descr="preencoded.png"/>
          <p:cNvPicPr>
            <a:picLocks noChangeAspect="1"/>
          </p:cNvPicPr>
          <p:nvPr/>
        </p:nvPicPr>
        <p:blipFill>
          <a:blip r:embed="rId5"/>
          <a:stretch>
            <a:fillRect/>
          </a:stretch>
        </p:blipFill>
        <p:spPr>
          <a:xfrm>
            <a:off x="1005840" y="2670048"/>
            <a:ext cx="365760" cy="365760"/>
          </a:xfrm>
          <a:prstGeom prst="rect">
            <a:avLst/>
          </a:prstGeom>
        </p:spPr>
      </p:pic>
      <p:sp>
        <p:nvSpPr>
          <p:cNvPr id="14" name="Text 9"/>
          <p:cNvSpPr/>
          <p:nvPr/>
        </p:nvSpPr>
        <p:spPr>
          <a:xfrm>
            <a:off x="1554480" y="2560320"/>
            <a:ext cx="2286000" cy="5943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Methodology</a:t>
            </a:r>
            <a:endParaRPr lang="en-US" sz="1600" dirty="0"/>
          </a:p>
        </p:txBody>
      </p:sp>
      <p:sp>
        <p:nvSpPr>
          <p:cNvPr id="15" name="Text 10"/>
          <p:cNvSpPr/>
          <p:nvPr/>
        </p:nvSpPr>
        <p:spPr>
          <a:xfrm>
            <a:off x="3840480" y="2560320"/>
            <a:ext cx="438912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Wallet clustering, statistical modeling, latency analysis</a:t>
            </a:r>
            <a:endParaRPr lang="en-US" sz="1300" dirty="0"/>
          </a:p>
        </p:txBody>
      </p:sp>
      <p:sp>
        <p:nvSpPr>
          <p:cNvPr id="16" name="Shape 11"/>
          <p:cNvSpPr/>
          <p:nvPr/>
        </p:nvSpPr>
        <p:spPr>
          <a:xfrm>
            <a:off x="731520" y="3291840"/>
            <a:ext cx="7680960" cy="59436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17" name="Image 3" descr="preencoded.png"/>
          <p:cNvPicPr>
            <a:picLocks noChangeAspect="1"/>
          </p:cNvPicPr>
          <p:nvPr/>
        </p:nvPicPr>
        <p:blipFill>
          <a:blip r:embed="rId6"/>
          <a:stretch>
            <a:fillRect/>
          </a:stretch>
        </p:blipFill>
        <p:spPr>
          <a:xfrm>
            <a:off x="1005840" y="3401568"/>
            <a:ext cx="365760" cy="365760"/>
          </a:xfrm>
          <a:prstGeom prst="rect">
            <a:avLst/>
          </a:prstGeom>
        </p:spPr>
      </p:pic>
      <p:sp>
        <p:nvSpPr>
          <p:cNvPr id="18" name="Text 12"/>
          <p:cNvSpPr/>
          <p:nvPr/>
        </p:nvSpPr>
        <p:spPr>
          <a:xfrm>
            <a:off x="1554480" y="3291840"/>
            <a:ext cx="2286000" cy="5943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Key Findings</a:t>
            </a:r>
            <a:endParaRPr lang="en-US" sz="1600" dirty="0"/>
          </a:p>
        </p:txBody>
      </p:sp>
      <p:sp>
        <p:nvSpPr>
          <p:cNvPr id="19" name="Text 13"/>
          <p:cNvSpPr/>
          <p:nvPr/>
        </p:nvSpPr>
        <p:spPr>
          <a:xfrm>
            <a:off x="3840480" y="3291840"/>
            <a:ext cx="438912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Empirical results and detected patterns</a:t>
            </a:r>
            <a:endParaRPr lang="en-US" sz="1300" dirty="0"/>
          </a:p>
        </p:txBody>
      </p:sp>
      <p:sp>
        <p:nvSpPr>
          <p:cNvPr id="20" name="Shape 14"/>
          <p:cNvSpPr/>
          <p:nvPr/>
        </p:nvSpPr>
        <p:spPr>
          <a:xfrm>
            <a:off x="731520" y="4023360"/>
            <a:ext cx="7680960" cy="59436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21" name="Image 4" descr="preencoded.png"/>
          <p:cNvPicPr>
            <a:picLocks noChangeAspect="1"/>
          </p:cNvPicPr>
          <p:nvPr/>
        </p:nvPicPr>
        <p:blipFill>
          <a:blip r:embed="rId7"/>
          <a:stretch>
            <a:fillRect/>
          </a:stretch>
        </p:blipFill>
        <p:spPr>
          <a:xfrm>
            <a:off x="1005840" y="4133088"/>
            <a:ext cx="365760" cy="365760"/>
          </a:xfrm>
          <a:prstGeom prst="rect">
            <a:avLst/>
          </a:prstGeom>
        </p:spPr>
      </p:pic>
      <p:sp>
        <p:nvSpPr>
          <p:cNvPr id="22" name="Text 15"/>
          <p:cNvSpPr/>
          <p:nvPr/>
        </p:nvSpPr>
        <p:spPr>
          <a:xfrm>
            <a:off x="1554480" y="4023360"/>
            <a:ext cx="2286000" cy="5943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Applications</a:t>
            </a:r>
            <a:endParaRPr lang="en-US" sz="1600" dirty="0"/>
          </a:p>
        </p:txBody>
      </p:sp>
      <p:sp>
        <p:nvSpPr>
          <p:cNvPr id="23" name="Text 16"/>
          <p:cNvSpPr/>
          <p:nvPr/>
        </p:nvSpPr>
        <p:spPr>
          <a:xfrm>
            <a:off x="3840480" y="4023360"/>
            <a:ext cx="4389120" cy="5943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Dashboard, Poly ETF, auto-arbitrage, regulatory reporting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THE PROBLEM</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The Illusion of Market Efficiency</a:t>
            </a:r>
            <a:endParaRPr lang="en-US" sz="2800" dirty="0"/>
          </a:p>
        </p:txBody>
      </p:sp>
      <p:sp>
        <p:nvSpPr>
          <p:cNvPr id="5" name="Shape 3"/>
          <p:cNvSpPr/>
          <p:nvPr/>
        </p:nvSpPr>
        <p:spPr>
          <a:xfrm>
            <a:off x="731520" y="1463040"/>
            <a:ext cx="3657600" cy="292608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731520" y="1463040"/>
            <a:ext cx="3657600" cy="54864"/>
          </a:xfrm>
          <a:prstGeom prst="rect">
            <a:avLst/>
          </a:prstGeom>
          <a:solidFill>
            <a:srgbClr val="0EA5E9"/>
          </a:solidFill>
          <a:ln/>
        </p:spPr>
        <p:txBody>
          <a:bodyPr/>
          <a:lstStyle/>
          <a:p>
            <a:endParaRPr lang="LID4096"/>
          </a:p>
        </p:txBody>
      </p:sp>
      <p:sp>
        <p:nvSpPr>
          <p:cNvPr id="7" name="Text 5"/>
          <p:cNvSpPr/>
          <p:nvPr/>
        </p:nvSpPr>
        <p:spPr>
          <a:xfrm>
            <a:off x="1005840" y="1691640"/>
            <a:ext cx="3108960" cy="365760"/>
          </a:xfrm>
          <a:prstGeom prst="rect">
            <a:avLst/>
          </a:prstGeom>
          <a:noFill/>
          <a:ln/>
        </p:spPr>
        <p:txBody>
          <a:bodyPr wrap="square" lIns="0" tIns="0" rIns="0" bIns="0" rtlCol="0" anchor="ctr"/>
          <a:lstStyle/>
          <a:p>
            <a:pPr marL="0" indent="0">
              <a:buNone/>
            </a:pPr>
            <a:r>
              <a:rPr lang="en-US" sz="1600" b="1" dirty="0">
                <a:solidFill>
                  <a:srgbClr val="0EA5E9"/>
                </a:solidFill>
                <a:latin typeface="Trebuchet MS" pitchFamily="34" charset="0"/>
                <a:ea typeface="Trebuchet MS" pitchFamily="34" charset="-122"/>
                <a:cs typeface="Trebuchet MS" pitchFamily="34" charset="-120"/>
              </a:rPr>
              <a:t>THE PUBLIC</a:t>
            </a:r>
            <a:endParaRPr lang="en-US" sz="1600" dirty="0"/>
          </a:p>
        </p:txBody>
      </p:sp>
      <p:sp>
        <p:nvSpPr>
          <p:cNvPr id="8" name="Text 6"/>
          <p:cNvSpPr/>
          <p:nvPr/>
        </p:nvSpPr>
        <p:spPr>
          <a:xfrm>
            <a:off x="1005840" y="2194560"/>
            <a:ext cx="310896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Reacts to news after publication</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Trades based on publicly available information</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Assumes fair market pricing</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Limited analytical tools</a:t>
            </a:r>
            <a:endParaRPr lang="en-US" sz="1300" dirty="0"/>
          </a:p>
        </p:txBody>
      </p:sp>
      <p:sp>
        <p:nvSpPr>
          <p:cNvPr id="9" name="Shape 7"/>
          <p:cNvSpPr/>
          <p:nvPr/>
        </p:nvSpPr>
        <p:spPr>
          <a:xfrm>
            <a:off x="4754880" y="1463040"/>
            <a:ext cx="3657600" cy="292608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0" name="Shape 8"/>
          <p:cNvSpPr/>
          <p:nvPr/>
        </p:nvSpPr>
        <p:spPr>
          <a:xfrm>
            <a:off x="4754880" y="1463040"/>
            <a:ext cx="3657600" cy="54864"/>
          </a:xfrm>
          <a:prstGeom prst="rect">
            <a:avLst/>
          </a:prstGeom>
          <a:solidFill>
            <a:srgbClr val="B91C1C"/>
          </a:solidFill>
          <a:ln/>
        </p:spPr>
        <p:txBody>
          <a:bodyPr/>
          <a:lstStyle/>
          <a:p>
            <a:endParaRPr lang="LID4096"/>
          </a:p>
        </p:txBody>
      </p:sp>
      <p:sp>
        <p:nvSpPr>
          <p:cNvPr id="11" name="Text 9"/>
          <p:cNvSpPr/>
          <p:nvPr/>
        </p:nvSpPr>
        <p:spPr>
          <a:xfrm>
            <a:off x="5029200" y="1691640"/>
            <a:ext cx="3108960" cy="365760"/>
          </a:xfrm>
          <a:prstGeom prst="rect">
            <a:avLst/>
          </a:prstGeom>
          <a:noFill/>
          <a:ln/>
        </p:spPr>
        <p:txBody>
          <a:bodyPr wrap="square" lIns="0" tIns="0" rIns="0" bIns="0" rtlCol="0" anchor="ctr"/>
          <a:lstStyle/>
          <a:p>
            <a:pPr marL="0" indent="0">
              <a:buNone/>
            </a:pPr>
            <a:r>
              <a:rPr lang="en-US" sz="1600" b="1" dirty="0">
                <a:solidFill>
                  <a:srgbClr val="DC2626"/>
                </a:solidFill>
                <a:latin typeface="Trebuchet MS" pitchFamily="34" charset="0"/>
                <a:ea typeface="Trebuchet MS" pitchFamily="34" charset="-122"/>
                <a:cs typeface="Trebuchet MS" pitchFamily="34" charset="-120"/>
              </a:rPr>
              <a:t>THE WHALES</a:t>
            </a:r>
            <a:endParaRPr lang="en-US" sz="1600" dirty="0"/>
          </a:p>
        </p:txBody>
      </p:sp>
      <p:sp>
        <p:nvSpPr>
          <p:cNvPr id="12" name="Text 10"/>
          <p:cNvSpPr/>
          <p:nvPr/>
        </p:nvSpPr>
        <p:spPr>
          <a:xfrm>
            <a:off x="5029200" y="2194560"/>
            <a:ext cx="310896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Position before events become public</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Coordinate through sybil wallet networks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Exploit information asymmetry</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May turn $1K bets into $16M (1 in 16,000 odds)</a:t>
            </a:r>
            <a:endParaRPr lang="en-US" sz="1300" dirty="0"/>
          </a:p>
        </p:txBody>
      </p:sp>
      <p:sp>
        <p:nvSpPr>
          <p:cNvPr id="13" name="Shape 11"/>
          <p:cNvSpPr/>
          <p:nvPr/>
        </p:nvSpPr>
        <p:spPr>
          <a:xfrm>
            <a:off x="731520" y="4572000"/>
            <a:ext cx="7680960" cy="411480"/>
          </a:xfrm>
          <a:prstGeom prst="rect">
            <a:avLst/>
          </a:prstGeom>
          <a:solidFill>
            <a:srgbClr val="B91C1C"/>
          </a:solidFill>
          <a:ln/>
        </p:spPr>
        <p:txBody>
          <a:bodyPr/>
          <a:lstStyle/>
          <a:p>
            <a:endParaRPr lang="LID4096"/>
          </a:p>
        </p:txBody>
      </p:sp>
      <p:sp>
        <p:nvSpPr>
          <p:cNvPr id="14" name="Text 12"/>
          <p:cNvSpPr/>
          <p:nvPr/>
        </p:nvSpPr>
        <p:spPr>
          <a:xfrm>
            <a:off x="731520" y="4572000"/>
            <a:ext cx="768096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Core Question: Does the Efficient Market Hypothesis hold in Web3?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DATA SOURCES</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Three-Layer Data Architecture</a:t>
            </a:r>
            <a:endParaRPr lang="en-US" sz="2800" dirty="0"/>
          </a:p>
        </p:txBody>
      </p:sp>
      <p:sp>
        <p:nvSpPr>
          <p:cNvPr id="5" name="Shape 3"/>
          <p:cNvSpPr/>
          <p:nvPr/>
        </p:nvSpPr>
        <p:spPr>
          <a:xfrm>
            <a:off x="731520" y="1371600"/>
            <a:ext cx="2560320" cy="338328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731520" y="1371600"/>
            <a:ext cx="2560320" cy="54864"/>
          </a:xfrm>
          <a:prstGeom prst="rect">
            <a:avLst/>
          </a:prstGeom>
          <a:solidFill>
            <a:srgbClr val="0EA5E9"/>
          </a:solidFill>
          <a:ln/>
        </p:spPr>
        <p:txBody>
          <a:bodyPr/>
          <a:lstStyle/>
          <a:p>
            <a:endParaRPr lang="LID4096"/>
          </a:p>
        </p:txBody>
      </p:sp>
      <p:pic>
        <p:nvPicPr>
          <p:cNvPr id="7" name="Image 0" descr="preencoded.png"/>
          <p:cNvPicPr>
            <a:picLocks noChangeAspect="1"/>
          </p:cNvPicPr>
          <p:nvPr/>
        </p:nvPicPr>
        <p:blipFill>
          <a:blip r:embed="rId3"/>
          <a:stretch>
            <a:fillRect/>
          </a:stretch>
        </p:blipFill>
        <p:spPr>
          <a:xfrm>
            <a:off x="1005840" y="1645920"/>
            <a:ext cx="411480" cy="411480"/>
          </a:xfrm>
          <a:prstGeom prst="rect">
            <a:avLst/>
          </a:prstGeom>
        </p:spPr>
      </p:pic>
      <p:sp>
        <p:nvSpPr>
          <p:cNvPr id="8" name="Text 5"/>
          <p:cNvSpPr/>
          <p:nvPr/>
        </p:nvSpPr>
        <p:spPr>
          <a:xfrm>
            <a:off x="1554480" y="1645920"/>
            <a:ext cx="15544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On-Chain Data</a:t>
            </a:r>
            <a:endParaRPr lang="en-US" sz="1500" dirty="0"/>
          </a:p>
        </p:txBody>
      </p:sp>
      <p:sp>
        <p:nvSpPr>
          <p:cNvPr id="9" name="Text 6"/>
          <p:cNvSpPr/>
          <p:nvPr/>
        </p:nvSpPr>
        <p:spPr>
          <a:xfrm>
            <a:off x="1005840" y="2286000"/>
            <a:ext cx="201168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Polygon blockchain scraping</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Wallet addresses (origin/dest)</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Transaction timestamps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Token transfers via smart contracts</a:t>
            </a:r>
            <a:endParaRPr lang="en-US" sz="1200" dirty="0"/>
          </a:p>
        </p:txBody>
      </p:sp>
      <p:sp>
        <p:nvSpPr>
          <p:cNvPr id="10" name="Shape 7"/>
          <p:cNvSpPr/>
          <p:nvPr/>
        </p:nvSpPr>
        <p:spPr>
          <a:xfrm>
            <a:off x="3566160" y="1371600"/>
            <a:ext cx="2560320" cy="338328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1" name="Shape 8"/>
          <p:cNvSpPr/>
          <p:nvPr/>
        </p:nvSpPr>
        <p:spPr>
          <a:xfrm>
            <a:off x="3566160" y="1371600"/>
            <a:ext cx="2560320" cy="54864"/>
          </a:xfrm>
          <a:prstGeom prst="rect">
            <a:avLst/>
          </a:prstGeom>
          <a:solidFill>
            <a:srgbClr val="F59E0B"/>
          </a:solidFill>
          <a:ln/>
        </p:spPr>
        <p:txBody>
          <a:bodyPr/>
          <a:lstStyle/>
          <a:p>
            <a:endParaRPr lang="LID4096"/>
          </a:p>
        </p:txBody>
      </p:sp>
      <p:pic>
        <p:nvPicPr>
          <p:cNvPr id="12" name="Image 1" descr="preencoded.png"/>
          <p:cNvPicPr>
            <a:picLocks noChangeAspect="1"/>
          </p:cNvPicPr>
          <p:nvPr/>
        </p:nvPicPr>
        <p:blipFill>
          <a:blip r:embed="rId4"/>
          <a:stretch>
            <a:fillRect/>
          </a:stretch>
        </p:blipFill>
        <p:spPr>
          <a:xfrm>
            <a:off x="3840480" y="1645920"/>
            <a:ext cx="411480" cy="411480"/>
          </a:xfrm>
          <a:prstGeom prst="rect">
            <a:avLst/>
          </a:prstGeom>
        </p:spPr>
      </p:pic>
      <p:sp>
        <p:nvSpPr>
          <p:cNvPr id="13" name="Text 9"/>
          <p:cNvSpPr/>
          <p:nvPr/>
        </p:nvSpPr>
        <p:spPr>
          <a:xfrm>
            <a:off x="4389120" y="1645920"/>
            <a:ext cx="15544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Off-Chain Market Data</a:t>
            </a:r>
            <a:endParaRPr lang="en-US" sz="1500" dirty="0"/>
          </a:p>
        </p:txBody>
      </p:sp>
      <p:sp>
        <p:nvSpPr>
          <p:cNvPr id="14" name="Text 10"/>
          <p:cNvSpPr/>
          <p:nvPr/>
        </p:nvSpPr>
        <p:spPr>
          <a:xfrm>
            <a:off x="3840480" y="2286000"/>
            <a:ext cx="201168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Polymarket API</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Order book snapshots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Historical pricing</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Liquidity metrics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Real-time market depth</a:t>
            </a:r>
            <a:endParaRPr lang="en-US" sz="1200" dirty="0"/>
          </a:p>
        </p:txBody>
      </p:sp>
      <p:sp>
        <p:nvSpPr>
          <p:cNvPr id="15" name="Shape 11"/>
          <p:cNvSpPr/>
          <p:nvPr/>
        </p:nvSpPr>
        <p:spPr>
          <a:xfrm>
            <a:off x="6400800" y="1371600"/>
            <a:ext cx="2560320" cy="338328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6" name="Shape 12"/>
          <p:cNvSpPr/>
          <p:nvPr/>
        </p:nvSpPr>
        <p:spPr>
          <a:xfrm>
            <a:off x="6400800" y="1371600"/>
            <a:ext cx="2560320" cy="54864"/>
          </a:xfrm>
          <a:prstGeom prst="rect">
            <a:avLst/>
          </a:prstGeom>
          <a:solidFill>
            <a:srgbClr val="10B981"/>
          </a:solidFill>
          <a:ln/>
        </p:spPr>
        <p:txBody>
          <a:bodyPr/>
          <a:lstStyle/>
          <a:p>
            <a:endParaRPr lang="LID4096"/>
          </a:p>
        </p:txBody>
      </p:sp>
      <p:pic>
        <p:nvPicPr>
          <p:cNvPr id="17" name="Image 2" descr="preencoded.png"/>
          <p:cNvPicPr>
            <a:picLocks noChangeAspect="1"/>
          </p:cNvPicPr>
          <p:nvPr/>
        </p:nvPicPr>
        <p:blipFill>
          <a:blip r:embed="rId5"/>
          <a:stretch>
            <a:fillRect/>
          </a:stretch>
        </p:blipFill>
        <p:spPr>
          <a:xfrm>
            <a:off x="6675120" y="1645920"/>
            <a:ext cx="411480" cy="411480"/>
          </a:xfrm>
          <a:prstGeom prst="rect">
            <a:avLst/>
          </a:prstGeom>
        </p:spPr>
      </p:pic>
      <p:sp>
        <p:nvSpPr>
          <p:cNvPr id="18" name="Text 13"/>
          <p:cNvSpPr/>
          <p:nvPr/>
        </p:nvSpPr>
        <p:spPr>
          <a:xfrm>
            <a:off x="7223760" y="1645920"/>
            <a:ext cx="15544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External Context</a:t>
            </a:r>
            <a:endParaRPr lang="en-US" sz="1500" dirty="0"/>
          </a:p>
        </p:txBody>
      </p:sp>
      <p:sp>
        <p:nvSpPr>
          <p:cNvPr id="19" name="Text 14"/>
          <p:cNvSpPr/>
          <p:nvPr/>
        </p:nvSpPr>
        <p:spPr>
          <a:xfrm>
            <a:off x="6675120" y="2286000"/>
            <a:ext cx="201168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Real-world news feeds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Social media sentiment</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Verified user signals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RAG architecture integration</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Event timing anchors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METHODOLOGY</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Combining Network Analysis with Predictive Modeling</a:t>
            </a:r>
            <a:endParaRPr lang="en-US" sz="2600" dirty="0"/>
          </a:p>
        </p:txBody>
      </p:sp>
      <p:sp>
        <p:nvSpPr>
          <p:cNvPr id="5" name="Shape 3"/>
          <p:cNvSpPr/>
          <p:nvPr/>
        </p:nvSpPr>
        <p:spPr>
          <a:xfrm>
            <a:off x="731520" y="1417320"/>
            <a:ext cx="7680960" cy="96012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731520" y="1417320"/>
            <a:ext cx="640080" cy="960120"/>
          </a:xfrm>
          <a:prstGeom prst="rect">
            <a:avLst/>
          </a:prstGeom>
          <a:solidFill>
            <a:srgbClr val="0EA5E9"/>
          </a:solidFill>
          <a:ln/>
        </p:spPr>
        <p:txBody>
          <a:bodyPr/>
          <a:lstStyle/>
          <a:p>
            <a:endParaRPr lang="LID4096"/>
          </a:p>
        </p:txBody>
      </p:sp>
      <p:sp>
        <p:nvSpPr>
          <p:cNvPr id="7" name="Text 5"/>
          <p:cNvSpPr/>
          <p:nvPr/>
        </p:nvSpPr>
        <p:spPr>
          <a:xfrm>
            <a:off x="731520" y="1417320"/>
            <a:ext cx="640080" cy="9601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01</a:t>
            </a:r>
            <a:endParaRPr lang="en-US" sz="2000" dirty="0"/>
          </a:p>
        </p:txBody>
      </p:sp>
      <p:pic>
        <p:nvPicPr>
          <p:cNvPr id="8" name="Image 0" descr="preencoded.png"/>
          <p:cNvPicPr>
            <a:picLocks noChangeAspect="1"/>
          </p:cNvPicPr>
          <p:nvPr/>
        </p:nvPicPr>
        <p:blipFill>
          <a:blip r:embed="rId3"/>
          <a:stretch>
            <a:fillRect/>
          </a:stretch>
        </p:blipFill>
        <p:spPr>
          <a:xfrm>
            <a:off x="1554480" y="1673352"/>
            <a:ext cx="457200" cy="457200"/>
          </a:xfrm>
          <a:prstGeom prst="rect">
            <a:avLst/>
          </a:prstGeom>
        </p:spPr>
      </p:pic>
      <p:sp>
        <p:nvSpPr>
          <p:cNvPr id="9" name="Text 6"/>
          <p:cNvSpPr/>
          <p:nvPr/>
        </p:nvSpPr>
        <p:spPr>
          <a:xfrm>
            <a:off x="2194560" y="1463040"/>
            <a:ext cx="59436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Wallet Clustering &amp; Pattern Detection</a:t>
            </a:r>
            <a:endParaRPr lang="en-US" sz="1600" dirty="0"/>
          </a:p>
        </p:txBody>
      </p:sp>
      <p:sp>
        <p:nvSpPr>
          <p:cNvPr id="10" name="Text 7"/>
          <p:cNvSpPr/>
          <p:nvPr/>
        </p:nvSpPr>
        <p:spPr>
          <a:xfrm>
            <a:off x="2194560" y="1828800"/>
            <a:ext cx="5943600" cy="50292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Graph-based analysis to identify 'smart money' networks and sybil rings. Dense block detection reveals coordinated wallet behavior and multi-account structures.</a:t>
            </a:r>
            <a:endParaRPr lang="en-US" sz="1150" dirty="0"/>
          </a:p>
        </p:txBody>
      </p:sp>
      <p:sp>
        <p:nvSpPr>
          <p:cNvPr id="11" name="Shape 8"/>
          <p:cNvSpPr/>
          <p:nvPr/>
        </p:nvSpPr>
        <p:spPr>
          <a:xfrm>
            <a:off x="731520" y="2560320"/>
            <a:ext cx="7680960" cy="96012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2" name="Shape 9"/>
          <p:cNvSpPr/>
          <p:nvPr/>
        </p:nvSpPr>
        <p:spPr>
          <a:xfrm>
            <a:off x="731520" y="2560320"/>
            <a:ext cx="640080" cy="960120"/>
          </a:xfrm>
          <a:prstGeom prst="rect">
            <a:avLst/>
          </a:prstGeom>
          <a:solidFill>
            <a:srgbClr val="F59E0B"/>
          </a:solidFill>
          <a:ln/>
        </p:spPr>
        <p:txBody>
          <a:bodyPr/>
          <a:lstStyle/>
          <a:p>
            <a:endParaRPr lang="LID4096"/>
          </a:p>
        </p:txBody>
      </p:sp>
      <p:sp>
        <p:nvSpPr>
          <p:cNvPr id="13" name="Text 10"/>
          <p:cNvSpPr/>
          <p:nvPr/>
        </p:nvSpPr>
        <p:spPr>
          <a:xfrm>
            <a:off x="731520" y="2560320"/>
            <a:ext cx="640080" cy="9601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02</a:t>
            </a:r>
            <a:endParaRPr lang="en-US" sz="2000" dirty="0"/>
          </a:p>
        </p:txBody>
      </p:sp>
      <p:pic>
        <p:nvPicPr>
          <p:cNvPr id="14" name="Image 1" descr="preencoded.png"/>
          <p:cNvPicPr>
            <a:picLocks noChangeAspect="1"/>
          </p:cNvPicPr>
          <p:nvPr/>
        </p:nvPicPr>
        <p:blipFill>
          <a:blip r:embed="rId4"/>
          <a:stretch>
            <a:fillRect/>
          </a:stretch>
        </p:blipFill>
        <p:spPr>
          <a:xfrm>
            <a:off x="1554480" y="2816352"/>
            <a:ext cx="457200" cy="457200"/>
          </a:xfrm>
          <a:prstGeom prst="rect">
            <a:avLst/>
          </a:prstGeom>
        </p:spPr>
      </p:pic>
      <p:sp>
        <p:nvSpPr>
          <p:cNvPr id="15" name="Text 11"/>
          <p:cNvSpPr/>
          <p:nvPr/>
        </p:nvSpPr>
        <p:spPr>
          <a:xfrm>
            <a:off x="2194560" y="2606040"/>
            <a:ext cx="59436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Statistical &amp; ML Models</a:t>
            </a:r>
            <a:endParaRPr lang="en-US" sz="1600" dirty="0"/>
          </a:p>
        </p:txBody>
      </p:sp>
      <p:sp>
        <p:nvSpPr>
          <p:cNvPr id="16" name="Text 12"/>
          <p:cNvSpPr/>
          <p:nvPr/>
        </p:nvSpPr>
        <p:spPr>
          <a:xfrm>
            <a:off x="2194560" y="2971800"/>
            <a:ext cx="5943600" cy="50292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Linear regression for price convergence modeling. Binomial distribution to separate genuine skill from luck — assessing true probability of binary outcomes vs. market implied odds.</a:t>
            </a:r>
            <a:endParaRPr lang="en-US" sz="1150" dirty="0"/>
          </a:p>
        </p:txBody>
      </p:sp>
      <p:sp>
        <p:nvSpPr>
          <p:cNvPr id="17" name="Shape 13"/>
          <p:cNvSpPr/>
          <p:nvPr/>
        </p:nvSpPr>
        <p:spPr>
          <a:xfrm>
            <a:off x="731520" y="3703320"/>
            <a:ext cx="7680960" cy="96012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8" name="Shape 14"/>
          <p:cNvSpPr/>
          <p:nvPr/>
        </p:nvSpPr>
        <p:spPr>
          <a:xfrm>
            <a:off x="731520" y="3703320"/>
            <a:ext cx="640080" cy="960120"/>
          </a:xfrm>
          <a:prstGeom prst="rect">
            <a:avLst/>
          </a:prstGeom>
          <a:solidFill>
            <a:srgbClr val="10B981"/>
          </a:solidFill>
          <a:ln/>
        </p:spPr>
        <p:txBody>
          <a:bodyPr/>
          <a:lstStyle/>
          <a:p>
            <a:endParaRPr lang="LID4096"/>
          </a:p>
        </p:txBody>
      </p:sp>
      <p:sp>
        <p:nvSpPr>
          <p:cNvPr id="19" name="Text 15"/>
          <p:cNvSpPr/>
          <p:nvPr/>
        </p:nvSpPr>
        <p:spPr>
          <a:xfrm>
            <a:off x="731520" y="3703320"/>
            <a:ext cx="640080" cy="9601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03</a:t>
            </a:r>
            <a:endParaRPr lang="en-US" sz="2000" dirty="0"/>
          </a:p>
        </p:txBody>
      </p:sp>
      <p:pic>
        <p:nvPicPr>
          <p:cNvPr id="20" name="Image 2" descr="preencoded.png"/>
          <p:cNvPicPr>
            <a:picLocks noChangeAspect="1"/>
          </p:cNvPicPr>
          <p:nvPr/>
        </p:nvPicPr>
        <p:blipFill>
          <a:blip r:embed="rId5"/>
          <a:stretch>
            <a:fillRect/>
          </a:stretch>
        </p:blipFill>
        <p:spPr>
          <a:xfrm>
            <a:off x="1554480" y="3959352"/>
            <a:ext cx="457200" cy="457200"/>
          </a:xfrm>
          <a:prstGeom prst="rect">
            <a:avLst/>
          </a:prstGeom>
        </p:spPr>
      </p:pic>
      <p:sp>
        <p:nvSpPr>
          <p:cNvPr id="21" name="Text 16"/>
          <p:cNvSpPr/>
          <p:nvPr/>
        </p:nvSpPr>
        <p:spPr>
          <a:xfrm>
            <a:off x="2194560" y="3749040"/>
            <a:ext cx="594360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Latency Analysis</a:t>
            </a:r>
            <a:endParaRPr lang="en-US" sz="1600" dirty="0"/>
          </a:p>
        </p:txBody>
      </p:sp>
      <p:sp>
        <p:nvSpPr>
          <p:cNvPr id="22" name="Text 17"/>
          <p:cNvSpPr/>
          <p:nvPr/>
        </p:nvSpPr>
        <p:spPr>
          <a:xfrm>
            <a:off x="2194560" y="4114800"/>
            <a:ext cx="5943600" cy="50292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Measuring exact time gaps between real-world events and on-chain price adjustments. Pinpointing brief arbitrage windows where informed traders can extract value.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DEEP DIVE</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Graph-Based Wallet Clustering</a:t>
            </a:r>
            <a:endParaRPr lang="en-US" sz="2800" dirty="0"/>
          </a:p>
        </p:txBody>
      </p:sp>
      <p:sp>
        <p:nvSpPr>
          <p:cNvPr id="5" name="Shape 3"/>
          <p:cNvSpPr/>
          <p:nvPr/>
        </p:nvSpPr>
        <p:spPr>
          <a:xfrm>
            <a:off x="731520" y="1371600"/>
            <a:ext cx="3657600" cy="320040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731520" y="1371600"/>
            <a:ext cx="3657600" cy="54864"/>
          </a:xfrm>
          <a:prstGeom prst="rect">
            <a:avLst/>
          </a:prstGeom>
          <a:solidFill>
            <a:srgbClr val="0EA5E9"/>
          </a:solidFill>
          <a:ln/>
        </p:spPr>
        <p:txBody>
          <a:bodyPr/>
          <a:lstStyle/>
          <a:p>
            <a:endParaRPr lang="LID4096"/>
          </a:p>
        </p:txBody>
      </p:sp>
      <p:sp>
        <p:nvSpPr>
          <p:cNvPr id="7" name="Text 5"/>
          <p:cNvSpPr/>
          <p:nvPr/>
        </p:nvSpPr>
        <p:spPr>
          <a:xfrm>
            <a:off x="1005840" y="1554480"/>
            <a:ext cx="3108960" cy="365760"/>
          </a:xfrm>
          <a:prstGeom prst="rect">
            <a:avLst/>
          </a:prstGeom>
          <a:noFill/>
          <a:ln/>
        </p:spPr>
        <p:txBody>
          <a:bodyPr wrap="square" lIns="0" tIns="0" rIns="0" bIns="0" rtlCol="0" anchor="ctr"/>
          <a:lstStyle/>
          <a:p>
            <a:pPr marL="0" indent="0">
              <a:buNone/>
            </a:pPr>
            <a:r>
              <a:rPr lang="en-US" sz="1600" b="1" dirty="0">
                <a:solidFill>
                  <a:srgbClr val="0EA5E9"/>
                </a:solidFill>
                <a:latin typeface="Trebuchet MS" pitchFamily="34" charset="0"/>
                <a:ea typeface="Trebuchet MS" pitchFamily="34" charset="-122"/>
                <a:cs typeface="Trebuchet MS" pitchFamily="34" charset="-120"/>
              </a:rPr>
              <a:t>What We Detect</a:t>
            </a:r>
            <a:endParaRPr lang="en-US" sz="1600" dirty="0"/>
          </a:p>
        </p:txBody>
      </p:sp>
      <p:sp>
        <p:nvSpPr>
          <p:cNvPr id="8" name="Text 6"/>
          <p:cNvSpPr/>
          <p:nvPr/>
        </p:nvSpPr>
        <p:spPr>
          <a:xfrm>
            <a:off x="1005840" y="2011680"/>
            <a:ext cx="31089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Sybil rings: single entities controlling multiple wallets to disguise position sizes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Smart money networks: wallets that consistently take early, highly profitable positions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Coordinated timing: clusters of wallets placing bets within narrow time windows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Fund flow patterns: tracing token movements between seemingly unrelated addresses</a:t>
            </a:r>
            <a:endParaRPr lang="en-US" sz="1200" dirty="0"/>
          </a:p>
        </p:txBody>
      </p:sp>
      <p:sp>
        <p:nvSpPr>
          <p:cNvPr id="9" name="Shape 7"/>
          <p:cNvSpPr/>
          <p:nvPr/>
        </p:nvSpPr>
        <p:spPr>
          <a:xfrm>
            <a:off x="4754880" y="1371600"/>
            <a:ext cx="3657600" cy="320040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0" name="Shape 8"/>
          <p:cNvSpPr/>
          <p:nvPr/>
        </p:nvSpPr>
        <p:spPr>
          <a:xfrm>
            <a:off x="4754880" y="1371600"/>
            <a:ext cx="3657600" cy="54864"/>
          </a:xfrm>
          <a:prstGeom prst="rect">
            <a:avLst/>
          </a:prstGeom>
          <a:solidFill>
            <a:srgbClr val="F59E0B"/>
          </a:solidFill>
          <a:ln/>
        </p:spPr>
        <p:txBody>
          <a:bodyPr/>
          <a:lstStyle/>
          <a:p>
            <a:endParaRPr lang="LID4096"/>
          </a:p>
        </p:txBody>
      </p:sp>
      <p:sp>
        <p:nvSpPr>
          <p:cNvPr id="11" name="Text 9"/>
          <p:cNvSpPr/>
          <p:nvPr/>
        </p:nvSpPr>
        <p:spPr>
          <a:xfrm>
            <a:off x="5029200" y="1554480"/>
            <a:ext cx="3108960" cy="365760"/>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Techniques</a:t>
            </a:r>
            <a:endParaRPr lang="en-US" sz="1600" dirty="0"/>
          </a:p>
        </p:txBody>
      </p:sp>
      <p:sp>
        <p:nvSpPr>
          <p:cNvPr id="12" name="Text 10"/>
          <p:cNvSpPr/>
          <p:nvPr/>
        </p:nvSpPr>
        <p:spPr>
          <a:xfrm>
            <a:off x="5029200" y="2011680"/>
            <a:ext cx="31089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Dense block detection in transaction graphs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Temporal correlation of trading activity across addresses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Pattern matching on deposit/withdrawal sequences</a:t>
            </a:r>
            <a:endParaRPr lang="en-US" sz="1200" dirty="0"/>
          </a:p>
          <a:p>
            <a:pPr marL="342900" indent="-342900">
              <a:spcAft>
                <a:spcPts val="800"/>
              </a:spcAft>
              <a:buSzPct val="100000"/>
              <a:buChar char="•"/>
            </a:pPr>
            <a:r>
              <a:rPr lang="en-US" sz="1200" dirty="0">
                <a:solidFill>
                  <a:srgbClr val="E2E8F0"/>
                </a:solidFill>
                <a:latin typeface="Calibri" pitchFamily="34" charset="0"/>
                <a:ea typeface="Calibri" pitchFamily="34" charset="-122"/>
                <a:cs typeface="Calibri" pitchFamily="34" charset="-120"/>
              </a:rPr>
              <a:t>Statistical tests for non-random transaction clustering</a:t>
            </a:r>
            <a:endParaRPr lang="en-US" sz="1200" dirty="0"/>
          </a:p>
        </p:txBody>
      </p:sp>
      <p:pic>
        <p:nvPicPr>
          <p:cNvPr id="18" name="Picture 17">
            <a:extLst>
              <a:ext uri="{FF2B5EF4-FFF2-40B4-BE49-F238E27FC236}">
                <a16:creationId xmlns:a16="http://schemas.microsoft.com/office/drawing/2014/main" id="{A88DD5F0-9014-7D9D-D44D-CCD35295F431}"/>
              </a:ext>
            </a:extLst>
          </p:cNvPr>
          <p:cNvPicPr>
            <a:picLocks noChangeAspect="1"/>
          </p:cNvPicPr>
          <p:nvPr/>
        </p:nvPicPr>
        <p:blipFill>
          <a:blip r:embed="rId3"/>
          <a:stretch>
            <a:fillRect/>
          </a:stretch>
        </p:blipFill>
        <p:spPr>
          <a:xfrm>
            <a:off x="6694710" y="482976"/>
            <a:ext cx="1789611" cy="8628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FINDINGS DETAIL</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What the Data Reveals</a:t>
            </a:r>
            <a:endParaRPr lang="en-US" sz="2800" dirty="0"/>
          </a:p>
        </p:txBody>
      </p:sp>
      <p:sp>
        <p:nvSpPr>
          <p:cNvPr id="5" name="Shape 3"/>
          <p:cNvSpPr/>
          <p:nvPr/>
        </p:nvSpPr>
        <p:spPr>
          <a:xfrm>
            <a:off x="731520" y="1371600"/>
            <a:ext cx="7680960" cy="713232"/>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6" name="Image 0" descr="preencoded.png"/>
          <p:cNvPicPr>
            <a:picLocks noChangeAspect="1"/>
          </p:cNvPicPr>
          <p:nvPr/>
        </p:nvPicPr>
        <p:blipFill>
          <a:blip r:embed="rId3"/>
          <a:stretch>
            <a:fillRect/>
          </a:stretch>
        </p:blipFill>
        <p:spPr>
          <a:xfrm>
            <a:off x="1051560" y="1508760"/>
            <a:ext cx="438912" cy="438912"/>
          </a:xfrm>
          <a:prstGeom prst="rect">
            <a:avLst/>
          </a:prstGeom>
        </p:spPr>
      </p:pic>
      <p:sp>
        <p:nvSpPr>
          <p:cNvPr id="7" name="Text 4"/>
          <p:cNvSpPr/>
          <p:nvPr/>
        </p:nvSpPr>
        <p:spPr>
          <a:xfrm>
            <a:off x="1691640" y="1389888"/>
            <a:ext cx="6400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Arbitrage Spreads</a:t>
            </a:r>
            <a:endParaRPr lang="en-US" sz="1500" dirty="0"/>
          </a:p>
        </p:txBody>
      </p:sp>
      <p:sp>
        <p:nvSpPr>
          <p:cNvPr id="8" name="Text 5"/>
          <p:cNvSpPr/>
          <p:nvPr/>
        </p:nvSpPr>
        <p:spPr>
          <a:xfrm>
            <a:off x="1691640" y="1719072"/>
            <a:ext cx="640080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Quantified average spreads across market categories — political events vs. crypto milestones show different inefficiency profiles</a:t>
            </a:r>
            <a:endParaRPr lang="en-US" sz="1150" dirty="0"/>
          </a:p>
        </p:txBody>
      </p:sp>
      <p:sp>
        <p:nvSpPr>
          <p:cNvPr id="9" name="Shape 6"/>
          <p:cNvSpPr/>
          <p:nvPr/>
        </p:nvSpPr>
        <p:spPr>
          <a:xfrm>
            <a:off x="731520" y="2240280"/>
            <a:ext cx="7680960" cy="713232"/>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10" name="Image 1" descr="preencoded.png"/>
          <p:cNvPicPr>
            <a:picLocks noChangeAspect="1"/>
          </p:cNvPicPr>
          <p:nvPr/>
        </p:nvPicPr>
        <p:blipFill>
          <a:blip r:embed="rId4"/>
          <a:stretch>
            <a:fillRect/>
          </a:stretch>
        </p:blipFill>
        <p:spPr>
          <a:xfrm>
            <a:off x="1051560" y="2377440"/>
            <a:ext cx="438912" cy="438912"/>
          </a:xfrm>
          <a:prstGeom prst="rect">
            <a:avLst/>
          </a:prstGeom>
        </p:spPr>
      </p:pic>
      <p:sp>
        <p:nvSpPr>
          <p:cNvPr id="11" name="Text 7"/>
          <p:cNvSpPr/>
          <p:nvPr/>
        </p:nvSpPr>
        <p:spPr>
          <a:xfrm>
            <a:off x="1691640" y="2258568"/>
            <a:ext cx="6400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News-to-Trade Latency</a:t>
            </a:r>
            <a:endParaRPr lang="en-US" sz="1500" dirty="0"/>
          </a:p>
        </p:txBody>
      </p:sp>
      <p:sp>
        <p:nvSpPr>
          <p:cNvPr id="12" name="Text 8"/>
          <p:cNvSpPr/>
          <p:nvPr/>
        </p:nvSpPr>
        <p:spPr>
          <a:xfrm>
            <a:off x="1691640" y="2587752"/>
            <a:ext cx="640080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Mapped correlation between off-chain news velocity and on-chain trading volume, revealing measurable reaction windows</a:t>
            </a:r>
            <a:endParaRPr lang="en-US" sz="1150" dirty="0"/>
          </a:p>
        </p:txBody>
      </p:sp>
      <p:sp>
        <p:nvSpPr>
          <p:cNvPr id="13" name="Shape 9"/>
          <p:cNvSpPr/>
          <p:nvPr/>
        </p:nvSpPr>
        <p:spPr>
          <a:xfrm>
            <a:off x="731520" y="3108960"/>
            <a:ext cx="7680960" cy="713232"/>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14" name="Image 2" descr="preencoded.png"/>
          <p:cNvPicPr>
            <a:picLocks noChangeAspect="1"/>
          </p:cNvPicPr>
          <p:nvPr/>
        </p:nvPicPr>
        <p:blipFill>
          <a:blip r:embed="rId5"/>
          <a:stretch>
            <a:fillRect/>
          </a:stretch>
        </p:blipFill>
        <p:spPr>
          <a:xfrm>
            <a:off x="1051560" y="3246120"/>
            <a:ext cx="438912" cy="438912"/>
          </a:xfrm>
          <a:prstGeom prst="rect">
            <a:avLst/>
          </a:prstGeom>
        </p:spPr>
      </p:pic>
      <p:sp>
        <p:nvSpPr>
          <p:cNvPr id="15" name="Text 10"/>
          <p:cNvSpPr/>
          <p:nvPr/>
        </p:nvSpPr>
        <p:spPr>
          <a:xfrm>
            <a:off x="1691640" y="3127248"/>
            <a:ext cx="6400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Wallet Clusters</a:t>
            </a:r>
            <a:endParaRPr lang="en-US" sz="1500" dirty="0"/>
          </a:p>
        </p:txBody>
      </p:sp>
      <p:sp>
        <p:nvSpPr>
          <p:cNvPr id="16" name="Text 11"/>
          <p:cNvSpPr/>
          <p:nvPr/>
        </p:nvSpPr>
        <p:spPr>
          <a:xfrm>
            <a:off x="1691640" y="3456432"/>
            <a:ext cx="640080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Anonymized visualizations of clustered wallet behavior consistent with asymmetric information patterns</a:t>
            </a:r>
            <a:endParaRPr lang="en-US" sz="1150" dirty="0"/>
          </a:p>
        </p:txBody>
      </p:sp>
      <p:sp>
        <p:nvSpPr>
          <p:cNvPr id="17" name="Shape 12"/>
          <p:cNvSpPr/>
          <p:nvPr/>
        </p:nvSpPr>
        <p:spPr>
          <a:xfrm>
            <a:off x="731520" y="3977640"/>
            <a:ext cx="7680960" cy="713232"/>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pic>
        <p:nvPicPr>
          <p:cNvPr id="18" name="Image 3" descr="preencoded.png"/>
          <p:cNvPicPr>
            <a:picLocks noChangeAspect="1"/>
          </p:cNvPicPr>
          <p:nvPr/>
        </p:nvPicPr>
        <p:blipFill>
          <a:blip r:embed="rId6"/>
          <a:stretch>
            <a:fillRect/>
          </a:stretch>
        </p:blipFill>
        <p:spPr>
          <a:xfrm>
            <a:off x="1051560" y="4114800"/>
            <a:ext cx="438912" cy="438912"/>
          </a:xfrm>
          <a:prstGeom prst="rect">
            <a:avLst/>
          </a:prstGeom>
        </p:spPr>
      </p:pic>
      <p:sp>
        <p:nvSpPr>
          <p:cNvPr id="19" name="Text 13"/>
          <p:cNvSpPr/>
          <p:nvPr/>
        </p:nvSpPr>
        <p:spPr>
          <a:xfrm>
            <a:off x="1691640" y="3995928"/>
            <a:ext cx="640080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Arbitrage Lifespan</a:t>
            </a:r>
            <a:endParaRPr lang="en-US" sz="1500" dirty="0"/>
          </a:p>
        </p:txBody>
      </p:sp>
      <p:sp>
        <p:nvSpPr>
          <p:cNvPr id="20" name="Text 14"/>
          <p:cNvSpPr/>
          <p:nvPr/>
        </p:nvSpPr>
        <p:spPr>
          <a:xfrm>
            <a:off x="1691640" y="4325112"/>
            <a:ext cx="6400800" cy="32004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Average lifespan of arbitrage opportunities measured — opportunities exist because decentralized markets + human irrationality = persistent price mismatches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PUBLIC VS. PROPRIETARY</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Separating Findings from Mechanics</a:t>
            </a:r>
            <a:endParaRPr lang="en-US" sz="2800" dirty="0"/>
          </a:p>
        </p:txBody>
      </p:sp>
      <p:sp>
        <p:nvSpPr>
          <p:cNvPr id="5" name="Shape 3"/>
          <p:cNvSpPr/>
          <p:nvPr/>
        </p:nvSpPr>
        <p:spPr>
          <a:xfrm>
            <a:off x="731520" y="1371600"/>
            <a:ext cx="3657600" cy="320040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731520" y="1371600"/>
            <a:ext cx="3657600" cy="54864"/>
          </a:xfrm>
          <a:prstGeom prst="rect">
            <a:avLst/>
          </a:prstGeom>
          <a:solidFill>
            <a:srgbClr val="10B981"/>
          </a:solidFill>
          <a:ln/>
        </p:spPr>
        <p:txBody>
          <a:bodyPr/>
          <a:lstStyle/>
          <a:p>
            <a:endParaRPr lang="LID4096"/>
          </a:p>
        </p:txBody>
      </p:sp>
      <p:pic>
        <p:nvPicPr>
          <p:cNvPr id="7" name="Image 0" descr="preencoded.png"/>
          <p:cNvPicPr>
            <a:picLocks noChangeAspect="1"/>
          </p:cNvPicPr>
          <p:nvPr/>
        </p:nvPicPr>
        <p:blipFill>
          <a:blip r:embed="rId3"/>
          <a:stretch>
            <a:fillRect/>
          </a:stretch>
        </p:blipFill>
        <p:spPr>
          <a:xfrm>
            <a:off x="1005840" y="1600200"/>
            <a:ext cx="365760" cy="365760"/>
          </a:xfrm>
          <a:prstGeom prst="rect">
            <a:avLst/>
          </a:prstGeom>
        </p:spPr>
      </p:pic>
      <p:sp>
        <p:nvSpPr>
          <p:cNvPr id="8" name="Text 5"/>
          <p:cNvSpPr/>
          <p:nvPr/>
        </p:nvSpPr>
        <p:spPr>
          <a:xfrm>
            <a:off x="1508760" y="1600200"/>
            <a:ext cx="2560320" cy="365760"/>
          </a:xfrm>
          <a:prstGeom prst="rect">
            <a:avLst/>
          </a:prstGeom>
          <a:noFill/>
          <a:ln/>
        </p:spPr>
        <p:txBody>
          <a:bodyPr wrap="square" lIns="0" tIns="0" rIns="0" bIns="0" rtlCol="0" anchor="ctr"/>
          <a:lstStyle/>
          <a:p>
            <a:pPr marL="0" indent="0">
              <a:buNone/>
            </a:pPr>
            <a:r>
              <a:rPr lang="en-US" sz="1600" b="1" dirty="0">
                <a:solidFill>
                  <a:srgbClr val="10B981"/>
                </a:solidFill>
                <a:latin typeface="Trebuchet MS" pitchFamily="34" charset="0"/>
                <a:ea typeface="Trebuchet MS" pitchFamily="34" charset="-122"/>
                <a:cs typeface="Trebuchet MS" pitchFamily="34" charset="-120"/>
              </a:rPr>
              <a:t>Publicly Shareable</a:t>
            </a:r>
            <a:endParaRPr lang="en-US" sz="1600" dirty="0"/>
          </a:p>
        </p:txBody>
      </p:sp>
      <p:sp>
        <p:nvSpPr>
          <p:cNvPr id="9" name="Text 6"/>
          <p:cNvSpPr/>
          <p:nvPr/>
        </p:nvSpPr>
        <p:spPr>
          <a:xfrm>
            <a:off x="1005840" y="2148840"/>
            <a:ext cx="310896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Aggregated behavioral patterns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Average arbitrage opportunity lifespan</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General market inefficiency metrics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Anonymized wallet cluster visualizations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Real examples of arbitrage possibilities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Public user trading history analysis</a:t>
            </a:r>
            <a:endParaRPr lang="en-US" sz="1200" dirty="0"/>
          </a:p>
        </p:txBody>
      </p:sp>
      <p:sp>
        <p:nvSpPr>
          <p:cNvPr id="10" name="Shape 7"/>
          <p:cNvSpPr/>
          <p:nvPr/>
        </p:nvSpPr>
        <p:spPr>
          <a:xfrm>
            <a:off x="4754880" y="1371600"/>
            <a:ext cx="3657600" cy="320040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1" name="Shape 8"/>
          <p:cNvSpPr/>
          <p:nvPr/>
        </p:nvSpPr>
        <p:spPr>
          <a:xfrm>
            <a:off x="4754880" y="1371600"/>
            <a:ext cx="3657600" cy="54864"/>
          </a:xfrm>
          <a:prstGeom prst="rect">
            <a:avLst/>
          </a:prstGeom>
          <a:solidFill>
            <a:srgbClr val="B91C1C"/>
          </a:solidFill>
          <a:ln/>
        </p:spPr>
        <p:txBody>
          <a:bodyPr/>
          <a:lstStyle/>
          <a:p>
            <a:endParaRPr lang="LID4096"/>
          </a:p>
        </p:txBody>
      </p:sp>
      <p:pic>
        <p:nvPicPr>
          <p:cNvPr id="12" name="Image 1" descr="preencoded.png"/>
          <p:cNvPicPr>
            <a:picLocks noChangeAspect="1"/>
          </p:cNvPicPr>
          <p:nvPr/>
        </p:nvPicPr>
        <p:blipFill>
          <a:blip r:embed="rId4"/>
          <a:stretch>
            <a:fillRect/>
          </a:stretch>
        </p:blipFill>
        <p:spPr>
          <a:xfrm>
            <a:off x="5029200" y="1600200"/>
            <a:ext cx="365760" cy="365760"/>
          </a:xfrm>
          <a:prstGeom prst="rect">
            <a:avLst/>
          </a:prstGeom>
        </p:spPr>
      </p:pic>
      <p:sp>
        <p:nvSpPr>
          <p:cNvPr id="13" name="Text 9"/>
          <p:cNvSpPr/>
          <p:nvPr/>
        </p:nvSpPr>
        <p:spPr>
          <a:xfrm>
            <a:off x="5532120" y="1600200"/>
            <a:ext cx="2560320" cy="365760"/>
          </a:xfrm>
          <a:prstGeom prst="rect">
            <a:avLst/>
          </a:prstGeom>
          <a:noFill/>
          <a:ln/>
        </p:spPr>
        <p:txBody>
          <a:bodyPr wrap="square" lIns="0" tIns="0" rIns="0" bIns="0" rtlCol="0" anchor="ctr"/>
          <a:lstStyle/>
          <a:p>
            <a:pPr marL="0" indent="0">
              <a:buNone/>
            </a:pPr>
            <a:r>
              <a:rPr lang="en-US" sz="1600" b="1" dirty="0">
                <a:solidFill>
                  <a:srgbClr val="DC2626"/>
                </a:solidFill>
                <a:latin typeface="Trebuchet MS" pitchFamily="34" charset="0"/>
                <a:ea typeface="Trebuchet MS" pitchFamily="34" charset="-122"/>
                <a:cs typeface="Trebuchet MS" pitchFamily="34" charset="-120"/>
              </a:rPr>
              <a:t>Proprietary / Protected</a:t>
            </a:r>
            <a:endParaRPr lang="en-US" sz="1600" dirty="0"/>
          </a:p>
        </p:txBody>
      </p:sp>
      <p:sp>
        <p:nvSpPr>
          <p:cNvPr id="14" name="Text 10"/>
          <p:cNvSpPr/>
          <p:nvPr/>
        </p:nvSpPr>
        <p:spPr>
          <a:xfrm>
            <a:off x="5029200" y="2148840"/>
            <a:ext cx="310896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Scraping module architecture</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RAG system implementation</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Alert system &amp; Telegram bot logic</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Specific trading strategies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Wallet identification algorithms</a:t>
            </a:r>
            <a:endParaRPr lang="en-US" sz="1200" dirty="0"/>
          </a:p>
          <a:p>
            <a:pPr marL="342900" indent="-342900">
              <a:spcAft>
                <a:spcPts val="600"/>
              </a:spcAft>
              <a:buSzPct val="100000"/>
              <a:buChar char="•"/>
            </a:pPr>
            <a:r>
              <a:rPr lang="en-US" sz="1200" dirty="0">
                <a:solidFill>
                  <a:srgbClr val="E2E8F0"/>
                </a:solidFill>
                <a:latin typeface="Calibri" pitchFamily="34" charset="0"/>
                <a:ea typeface="Calibri" pitchFamily="34" charset="-122"/>
                <a:cs typeface="Calibri" pitchFamily="34" charset="-120"/>
              </a:rPr>
              <a:t>Live arbitrage execution code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274320"/>
            <a:ext cx="4572000" cy="457200"/>
          </a:xfrm>
          <a:prstGeom prst="rect">
            <a:avLst/>
          </a:prstGeom>
          <a:noFill/>
          <a:ln/>
        </p:spPr>
        <p:txBody>
          <a:bodyPr wrap="square" lIns="0" tIns="0" rIns="0" bIns="0" rtlCol="0" anchor="ctr"/>
          <a:lstStyle/>
          <a:p>
            <a:pPr marL="0" indent="0">
              <a:buNone/>
            </a:pPr>
            <a:r>
              <a:rPr lang="en-US" sz="1400" b="1" kern="0" spc="400" dirty="0">
                <a:solidFill>
                  <a:srgbClr val="B91C1C"/>
                </a:solidFill>
                <a:latin typeface="Trebuchet MS" pitchFamily="34" charset="0"/>
                <a:ea typeface="Trebuchet MS" pitchFamily="34" charset="-122"/>
                <a:cs typeface="Trebuchet MS" pitchFamily="34" charset="-120"/>
              </a:rPr>
              <a:t>APPLICATIONS</a:t>
            </a:r>
            <a:endParaRPr lang="en-US" sz="1400" dirty="0"/>
          </a:p>
        </p:txBody>
      </p:sp>
      <p:sp>
        <p:nvSpPr>
          <p:cNvPr id="4" name="Text 2"/>
          <p:cNvSpPr/>
          <p:nvPr/>
        </p:nvSpPr>
        <p:spPr>
          <a:xfrm>
            <a:off x="731520" y="640080"/>
            <a:ext cx="768096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Four Paths to Market</a:t>
            </a:r>
            <a:endParaRPr lang="en-US" sz="2800" dirty="0"/>
          </a:p>
        </p:txBody>
      </p:sp>
      <p:sp>
        <p:nvSpPr>
          <p:cNvPr id="5" name="Shape 3"/>
          <p:cNvSpPr/>
          <p:nvPr/>
        </p:nvSpPr>
        <p:spPr>
          <a:xfrm>
            <a:off x="731520" y="1371600"/>
            <a:ext cx="3657600" cy="146304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6" name="Shape 4"/>
          <p:cNvSpPr/>
          <p:nvPr/>
        </p:nvSpPr>
        <p:spPr>
          <a:xfrm>
            <a:off x="960120" y="1554480"/>
            <a:ext cx="502920" cy="502920"/>
          </a:xfrm>
          <a:prstGeom prst="ellipse">
            <a:avLst/>
          </a:prstGeom>
          <a:solidFill>
            <a:srgbClr val="0EA5E9"/>
          </a:solidFill>
          <a:ln/>
        </p:spPr>
        <p:txBody>
          <a:bodyPr/>
          <a:lstStyle/>
          <a:p>
            <a:endParaRPr lang="LID4096"/>
          </a:p>
        </p:txBody>
      </p:sp>
      <p:sp>
        <p:nvSpPr>
          <p:cNvPr id="7" name="Text 5"/>
          <p:cNvSpPr/>
          <p:nvPr/>
        </p:nvSpPr>
        <p:spPr>
          <a:xfrm>
            <a:off x="96012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8" name="Text 6"/>
          <p:cNvSpPr/>
          <p:nvPr/>
        </p:nvSpPr>
        <p:spPr>
          <a:xfrm>
            <a:off x="1645920" y="1554480"/>
            <a:ext cx="24688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Live Dashboard + Trading Bot</a:t>
            </a:r>
            <a:endParaRPr lang="en-US" sz="1500" dirty="0"/>
          </a:p>
        </p:txBody>
      </p:sp>
      <p:sp>
        <p:nvSpPr>
          <p:cNvPr id="9" name="Text 7"/>
          <p:cNvSpPr/>
          <p:nvPr/>
        </p:nvSpPr>
        <p:spPr>
          <a:xfrm>
            <a:off x="1005840" y="2103120"/>
            <a:ext cx="310896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Auto-execute profitable cross-market arbitrage trades. Real-time alerts for suspicious insider-driven activity.</a:t>
            </a:r>
            <a:endParaRPr lang="en-US" sz="1100" dirty="0"/>
          </a:p>
        </p:txBody>
      </p:sp>
      <p:sp>
        <p:nvSpPr>
          <p:cNvPr id="10" name="Shape 8"/>
          <p:cNvSpPr/>
          <p:nvPr/>
        </p:nvSpPr>
        <p:spPr>
          <a:xfrm>
            <a:off x="4754880" y="1371600"/>
            <a:ext cx="3657600" cy="146304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1" name="Shape 9"/>
          <p:cNvSpPr/>
          <p:nvPr/>
        </p:nvSpPr>
        <p:spPr>
          <a:xfrm>
            <a:off x="4983480" y="1554480"/>
            <a:ext cx="502920" cy="502920"/>
          </a:xfrm>
          <a:prstGeom prst="ellipse">
            <a:avLst/>
          </a:prstGeom>
          <a:solidFill>
            <a:srgbClr val="F59E0B"/>
          </a:solidFill>
          <a:ln/>
        </p:spPr>
        <p:txBody>
          <a:bodyPr/>
          <a:lstStyle/>
          <a:p>
            <a:endParaRPr lang="LID4096"/>
          </a:p>
        </p:txBody>
      </p:sp>
      <p:sp>
        <p:nvSpPr>
          <p:cNvPr id="12" name="Text 10"/>
          <p:cNvSpPr/>
          <p:nvPr/>
        </p:nvSpPr>
        <p:spPr>
          <a:xfrm>
            <a:off x="498348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3" name="Text 11"/>
          <p:cNvSpPr/>
          <p:nvPr/>
        </p:nvSpPr>
        <p:spPr>
          <a:xfrm>
            <a:off x="5669280" y="1554480"/>
            <a:ext cx="24688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POLY ETF</a:t>
            </a:r>
            <a:endParaRPr lang="en-US" sz="1500" dirty="0"/>
          </a:p>
        </p:txBody>
      </p:sp>
      <p:sp>
        <p:nvSpPr>
          <p:cNvPr id="14" name="Text 12"/>
          <p:cNvSpPr/>
          <p:nvPr/>
        </p:nvSpPr>
        <p:spPr>
          <a:xfrm>
            <a:off x="5029200" y="2103120"/>
            <a:ext cx="310896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 fund that algorithmically mirrors verified 'whale' traders, turning their insider edge into systematic alpha.</a:t>
            </a:r>
            <a:endParaRPr lang="en-US" sz="1100" dirty="0"/>
          </a:p>
        </p:txBody>
      </p:sp>
      <p:sp>
        <p:nvSpPr>
          <p:cNvPr id="15" name="Shape 13"/>
          <p:cNvSpPr/>
          <p:nvPr/>
        </p:nvSpPr>
        <p:spPr>
          <a:xfrm>
            <a:off x="731520" y="3063240"/>
            <a:ext cx="3657600" cy="146304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16" name="Shape 14"/>
          <p:cNvSpPr/>
          <p:nvPr/>
        </p:nvSpPr>
        <p:spPr>
          <a:xfrm>
            <a:off x="960120" y="3246120"/>
            <a:ext cx="502920" cy="502920"/>
          </a:xfrm>
          <a:prstGeom prst="ellipse">
            <a:avLst/>
          </a:prstGeom>
          <a:solidFill>
            <a:srgbClr val="10B981"/>
          </a:solidFill>
          <a:ln/>
        </p:spPr>
        <p:txBody>
          <a:bodyPr/>
          <a:lstStyle/>
          <a:p>
            <a:endParaRPr lang="LID4096"/>
          </a:p>
        </p:txBody>
      </p:sp>
      <p:sp>
        <p:nvSpPr>
          <p:cNvPr id="17" name="Text 15"/>
          <p:cNvSpPr/>
          <p:nvPr/>
        </p:nvSpPr>
        <p:spPr>
          <a:xfrm>
            <a:off x="960120" y="3246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8" name="Text 16"/>
          <p:cNvSpPr/>
          <p:nvPr/>
        </p:nvSpPr>
        <p:spPr>
          <a:xfrm>
            <a:off x="1645920" y="3246120"/>
            <a:ext cx="24688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Auto-Arbitrage Engine</a:t>
            </a:r>
            <a:endParaRPr lang="en-US" sz="1500" dirty="0"/>
          </a:p>
        </p:txBody>
      </p:sp>
      <p:sp>
        <p:nvSpPr>
          <p:cNvPr id="19" name="Text 17"/>
          <p:cNvSpPr/>
          <p:nvPr/>
        </p:nvSpPr>
        <p:spPr>
          <a:xfrm>
            <a:off x="1005840" y="3794760"/>
            <a:ext cx="310896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Automated tool that captures any information mismatch across platforms — harvesting risk-free price spreads globally 24/7.</a:t>
            </a:r>
            <a:endParaRPr lang="en-US" sz="1100" dirty="0"/>
          </a:p>
        </p:txBody>
      </p:sp>
      <p:sp>
        <p:nvSpPr>
          <p:cNvPr id="20" name="Shape 18"/>
          <p:cNvSpPr/>
          <p:nvPr/>
        </p:nvSpPr>
        <p:spPr>
          <a:xfrm>
            <a:off x="4754880" y="3063240"/>
            <a:ext cx="3657600" cy="1463040"/>
          </a:xfrm>
          <a:prstGeom prst="rect">
            <a:avLst/>
          </a:prstGeom>
          <a:solidFill>
            <a:srgbClr val="1A2332"/>
          </a:solidFill>
          <a:ln/>
          <a:effectLst>
            <a:outerShdw blurRad="101600" dist="38100" dir="8100000" algn="bl" rotWithShape="0">
              <a:srgbClr val="000000">
                <a:alpha val="40000"/>
              </a:srgbClr>
            </a:outerShdw>
          </a:effectLst>
        </p:spPr>
        <p:txBody>
          <a:bodyPr/>
          <a:lstStyle/>
          <a:p>
            <a:endParaRPr lang="LID4096"/>
          </a:p>
        </p:txBody>
      </p:sp>
      <p:sp>
        <p:nvSpPr>
          <p:cNvPr id="21" name="Shape 19"/>
          <p:cNvSpPr/>
          <p:nvPr/>
        </p:nvSpPr>
        <p:spPr>
          <a:xfrm>
            <a:off x="4983480" y="3246120"/>
            <a:ext cx="502920" cy="502920"/>
          </a:xfrm>
          <a:prstGeom prst="ellipse">
            <a:avLst/>
          </a:prstGeom>
          <a:solidFill>
            <a:srgbClr val="B91C1C"/>
          </a:solidFill>
          <a:ln/>
        </p:spPr>
        <p:txBody>
          <a:bodyPr/>
          <a:lstStyle/>
          <a:p>
            <a:endParaRPr lang="LID4096"/>
          </a:p>
        </p:txBody>
      </p:sp>
      <p:sp>
        <p:nvSpPr>
          <p:cNvPr id="22" name="Text 20"/>
          <p:cNvSpPr/>
          <p:nvPr/>
        </p:nvSpPr>
        <p:spPr>
          <a:xfrm>
            <a:off x="4983480" y="3246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23" name="Text 21"/>
          <p:cNvSpPr/>
          <p:nvPr/>
        </p:nvSpPr>
        <p:spPr>
          <a:xfrm>
            <a:off x="5669280" y="3246120"/>
            <a:ext cx="246888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Regulatory Reporting</a:t>
            </a:r>
            <a:endParaRPr lang="en-US" sz="1500" dirty="0"/>
          </a:p>
        </p:txBody>
      </p:sp>
      <p:sp>
        <p:nvSpPr>
          <p:cNvPr id="24" name="Text 22"/>
          <p:cNvSpPr/>
          <p:nvPr/>
        </p:nvSpPr>
        <p:spPr>
          <a:xfrm>
            <a:off x="5029200" y="3794760"/>
            <a:ext cx="3108960" cy="59436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Verified analytical packets provided to federal agencies (FBI/SEC) regarding specific coordinated actors and market manipulation.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0A0D-21F8-8C4D-9F75-2FB1AF1B69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C6E612-152A-B1F7-5AD1-2E4333A95943}"/>
              </a:ext>
            </a:extLst>
          </p:cNvPr>
          <p:cNvSpPr/>
          <p:nvPr/>
        </p:nvSpPr>
        <p:spPr>
          <a:xfrm>
            <a:off x="0" y="0"/>
            <a:ext cx="9144000" cy="54864"/>
          </a:xfrm>
          <a:prstGeom prst="rect">
            <a:avLst/>
          </a:prstGeom>
          <a:solidFill>
            <a:srgbClr val="B91C1C"/>
          </a:solidFill>
          <a:ln/>
        </p:spPr>
        <p:txBody>
          <a:bodyPr/>
          <a:lstStyle/>
          <a:p>
            <a:endParaRPr lang="LID4096"/>
          </a:p>
        </p:txBody>
      </p:sp>
      <p:pic>
        <p:nvPicPr>
          <p:cNvPr id="26" name="Picture 25">
            <a:extLst>
              <a:ext uri="{FF2B5EF4-FFF2-40B4-BE49-F238E27FC236}">
                <a16:creationId xmlns:a16="http://schemas.microsoft.com/office/drawing/2014/main" id="{FAA6BC3E-7A10-3D96-54ED-43EE95A3B2FE}"/>
              </a:ext>
            </a:extLst>
          </p:cNvPr>
          <p:cNvPicPr>
            <a:picLocks noChangeAspect="1"/>
          </p:cNvPicPr>
          <p:nvPr/>
        </p:nvPicPr>
        <p:blipFill>
          <a:blip r:embed="rId3"/>
          <a:stretch>
            <a:fillRect/>
          </a:stretch>
        </p:blipFill>
        <p:spPr>
          <a:xfrm>
            <a:off x="347472" y="112429"/>
            <a:ext cx="8449056" cy="4918642"/>
          </a:xfrm>
          <a:prstGeom prst="rect">
            <a:avLst/>
          </a:prstGeom>
        </p:spPr>
      </p:pic>
    </p:spTree>
    <p:extLst>
      <p:ext uri="{BB962C8B-B14F-4D97-AF65-F5344CB8AC3E}">
        <p14:creationId xmlns:p14="http://schemas.microsoft.com/office/powerpoint/2010/main" val="106007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FF17-16B6-8502-179C-E787294698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8EA0D0-2387-A9E4-3E3F-129EF6A12FC3}"/>
              </a:ext>
            </a:extLst>
          </p:cNvPr>
          <p:cNvSpPr/>
          <p:nvPr/>
        </p:nvSpPr>
        <p:spPr>
          <a:xfrm>
            <a:off x="0" y="0"/>
            <a:ext cx="9144000" cy="54864"/>
          </a:xfrm>
          <a:prstGeom prst="rect">
            <a:avLst/>
          </a:prstGeom>
          <a:solidFill>
            <a:srgbClr val="B91C1C"/>
          </a:solidFill>
          <a:ln/>
        </p:spPr>
        <p:txBody>
          <a:bodyPr/>
          <a:lstStyle/>
          <a:p>
            <a:endParaRPr lang="LID4096"/>
          </a:p>
        </p:txBody>
      </p:sp>
      <p:pic>
        <p:nvPicPr>
          <p:cNvPr id="4" name="Picture 3">
            <a:extLst>
              <a:ext uri="{FF2B5EF4-FFF2-40B4-BE49-F238E27FC236}">
                <a16:creationId xmlns:a16="http://schemas.microsoft.com/office/drawing/2014/main" id="{1CA488F5-10D8-F395-0177-34F6611D9C4C}"/>
              </a:ext>
            </a:extLst>
          </p:cNvPr>
          <p:cNvPicPr>
            <a:picLocks noChangeAspect="1"/>
          </p:cNvPicPr>
          <p:nvPr/>
        </p:nvPicPr>
        <p:blipFill>
          <a:blip r:embed="rId3"/>
          <a:stretch>
            <a:fillRect/>
          </a:stretch>
        </p:blipFill>
        <p:spPr>
          <a:xfrm>
            <a:off x="1199679" y="733168"/>
            <a:ext cx="6744641" cy="3677163"/>
          </a:xfrm>
          <a:prstGeom prst="rect">
            <a:avLst/>
          </a:prstGeom>
        </p:spPr>
      </p:pic>
    </p:spTree>
    <p:extLst>
      <p:ext uri="{BB962C8B-B14F-4D97-AF65-F5344CB8AC3E}">
        <p14:creationId xmlns:p14="http://schemas.microsoft.com/office/powerpoint/2010/main" val="68149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CC75C-8ED5-5128-490F-E50A68CFB2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FDCB82-7BB5-9EFD-DFD7-514B03830191}"/>
              </a:ext>
            </a:extLst>
          </p:cNvPr>
          <p:cNvSpPr/>
          <p:nvPr/>
        </p:nvSpPr>
        <p:spPr>
          <a:xfrm>
            <a:off x="0" y="0"/>
            <a:ext cx="9144000" cy="54864"/>
          </a:xfrm>
          <a:prstGeom prst="rect">
            <a:avLst/>
          </a:prstGeom>
          <a:solidFill>
            <a:srgbClr val="B91C1C"/>
          </a:solidFill>
          <a:ln/>
        </p:spPr>
        <p:txBody>
          <a:bodyPr/>
          <a:lstStyle/>
          <a:p>
            <a:endParaRPr lang="LID4096"/>
          </a:p>
        </p:txBody>
      </p:sp>
      <p:pic>
        <p:nvPicPr>
          <p:cNvPr id="5" name="Picture 4">
            <a:extLst>
              <a:ext uri="{FF2B5EF4-FFF2-40B4-BE49-F238E27FC236}">
                <a16:creationId xmlns:a16="http://schemas.microsoft.com/office/drawing/2014/main" id="{119F3F60-B4A2-C94E-294A-A598AFAA27F9}"/>
              </a:ext>
            </a:extLst>
          </p:cNvPr>
          <p:cNvPicPr>
            <a:picLocks noChangeAspect="1"/>
          </p:cNvPicPr>
          <p:nvPr/>
        </p:nvPicPr>
        <p:blipFill>
          <a:blip r:embed="rId3"/>
          <a:stretch>
            <a:fillRect/>
          </a:stretch>
        </p:blipFill>
        <p:spPr>
          <a:xfrm>
            <a:off x="1514048" y="785563"/>
            <a:ext cx="6115904" cy="3572374"/>
          </a:xfrm>
          <a:prstGeom prst="rect">
            <a:avLst/>
          </a:prstGeom>
        </p:spPr>
      </p:pic>
    </p:spTree>
    <p:extLst>
      <p:ext uri="{BB962C8B-B14F-4D97-AF65-F5344CB8AC3E}">
        <p14:creationId xmlns:p14="http://schemas.microsoft.com/office/powerpoint/2010/main" val="243512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BFFC-45B1-F5BD-7477-CD5639E1828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DF2F60B-A2F5-707F-91BD-26F6CAFB5345}"/>
              </a:ext>
            </a:extLst>
          </p:cNvPr>
          <p:cNvSpPr/>
          <p:nvPr/>
        </p:nvSpPr>
        <p:spPr>
          <a:xfrm>
            <a:off x="0" y="0"/>
            <a:ext cx="9144000" cy="54864"/>
          </a:xfrm>
          <a:prstGeom prst="rect">
            <a:avLst/>
          </a:prstGeom>
          <a:solidFill>
            <a:srgbClr val="B91C1C"/>
          </a:solidFill>
          <a:ln/>
        </p:spPr>
        <p:txBody>
          <a:bodyPr/>
          <a:lstStyle/>
          <a:p>
            <a:endParaRPr lang="LID4096"/>
          </a:p>
        </p:txBody>
      </p:sp>
      <p:pic>
        <p:nvPicPr>
          <p:cNvPr id="4" name="Picture 3">
            <a:extLst>
              <a:ext uri="{FF2B5EF4-FFF2-40B4-BE49-F238E27FC236}">
                <a16:creationId xmlns:a16="http://schemas.microsoft.com/office/drawing/2014/main" id="{559219D6-B93D-4E64-88A6-09980E978D04}"/>
              </a:ext>
            </a:extLst>
          </p:cNvPr>
          <p:cNvPicPr>
            <a:picLocks noChangeAspect="1"/>
          </p:cNvPicPr>
          <p:nvPr/>
        </p:nvPicPr>
        <p:blipFill>
          <a:blip r:embed="rId3"/>
          <a:stretch>
            <a:fillRect/>
          </a:stretch>
        </p:blipFill>
        <p:spPr>
          <a:xfrm>
            <a:off x="1323521" y="1157090"/>
            <a:ext cx="6496957" cy="2829320"/>
          </a:xfrm>
          <a:prstGeom prst="rect">
            <a:avLst/>
          </a:prstGeom>
        </p:spPr>
      </p:pic>
    </p:spTree>
    <p:extLst>
      <p:ext uri="{BB962C8B-B14F-4D97-AF65-F5344CB8AC3E}">
        <p14:creationId xmlns:p14="http://schemas.microsoft.com/office/powerpoint/2010/main" val="2704827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3518-D543-761A-DECA-089DA39509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47C624-B1FC-46D6-A9EA-84AD4D063419}"/>
              </a:ext>
            </a:extLst>
          </p:cNvPr>
          <p:cNvSpPr/>
          <p:nvPr/>
        </p:nvSpPr>
        <p:spPr>
          <a:xfrm>
            <a:off x="0" y="0"/>
            <a:ext cx="9144000" cy="54864"/>
          </a:xfrm>
          <a:prstGeom prst="rect">
            <a:avLst/>
          </a:prstGeom>
          <a:solidFill>
            <a:srgbClr val="B91C1C"/>
          </a:solidFill>
          <a:ln/>
        </p:spPr>
        <p:txBody>
          <a:bodyPr/>
          <a:lstStyle/>
          <a:p>
            <a:endParaRPr lang="LID4096"/>
          </a:p>
        </p:txBody>
      </p:sp>
      <p:pic>
        <p:nvPicPr>
          <p:cNvPr id="5" name="Picture 4">
            <a:extLst>
              <a:ext uri="{FF2B5EF4-FFF2-40B4-BE49-F238E27FC236}">
                <a16:creationId xmlns:a16="http://schemas.microsoft.com/office/drawing/2014/main" id="{BBEBEBCF-4E5C-9C47-FFC5-8374BEAC8CCA}"/>
              </a:ext>
            </a:extLst>
          </p:cNvPr>
          <p:cNvPicPr>
            <a:picLocks noChangeAspect="1"/>
          </p:cNvPicPr>
          <p:nvPr/>
        </p:nvPicPr>
        <p:blipFill>
          <a:blip r:embed="rId3"/>
          <a:stretch>
            <a:fillRect/>
          </a:stretch>
        </p:blipFill>
        <p:spPr>
          <a:xfrm>
            <a:off x="1224300" y="265176"/>
            <a:ext cx="6671016" cy="4564380"/>
          </a:xfrm>
          <a:prstGeom prst="rect">
            <a:avLst/>
          </a:prstGeom>
        </p:spPr>
      </p:pic>
    </p:spTree>
    <p:extLst>
      <p:ext uri="{BB962C8B-B14F-4D97-AF65-F5344CB8AC3E}">
        <p14:creationId xmlns:p14="http://schemas.microsoft.com/office/powerpoint/2010/main" val="2530662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91C1C"/>
          </a:solidFill>
          <a:ln/>
        </p:spPr>
        <p:txBody>
          <a:bodyPr/>
          <a:lstStyle/>
          <a:p>
            <a:endParaRPr lang="LID4096"/>
          </a:p>
        </p:txBody>
      </p:sp>
      <p:sp>
        <p:nvSpPr>
          <p:cNvPr id="3" name="Text 1"/>
          <p:cNvSpPr/>
          <p:nvPr/>
        </p:nvSpPr>
        <p:spPr>
          <a:xfrm>
            <a:off x="731520" y="914400"/>
            <a:ext cx="7680960" cy="457200"/>
          </a:xfrm>
          <a:prstGeom prst="rect">
            <a:avLst/>
          </a:prstGeom>
          <a:noFill/>
          <a:ln/>
        </p:spPr>
        <p:txBody>
          <a:bodyPr wrap="square" lIns="0" tIns="0" rIns="0" bIns="0" rtlCol="0" anchor="ctr"/>
          <a:lstStyle/>
          <a:p>
            <a:pPr marL="0" indent="0">
              <a:buNone/>
            </a:pPr>
            <a:r>
              <a:rPr lang="en-US" sz="1600" b="1" kern="0" spc="800" dirty="0">
                <a:solidFill>
                  <a:srgbClr val="B91C1C"/>
                </a:solidFill>
                <a:latin typeface="Trebuchet MS" pitchFamily="34" charset="0"/>
                <a:ea typeface="Trebuchet MS" pitchFamily="34" charset="-122"/>
                <a:cs typeface="Trebuchet MS" pitchFamily="34" charset="-120"/>
              </a:rPr>
              <a:t>METABET</a:t>
            </a:r>
            <a:endParaRPr lang="en-US" sz="1600" dirty="0"/>
          </a:p>
        </p:txBody>
      </p:sp>
      <p:sp>
        <p:nvSpPr>
          <p:cNvPr id="4" name="Text 2"/>
          <p:cNvSpPr/>
          <p:nvPr/>
        </p:nvSpPr>
        <p:spPr>
          <a:xfrm>
            <a:off x="731520" y="1371600"/>
            <a:ext cx="7680960" cy="73152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The Blockchain Remembers</a:t>
            </a:r>
            <a:endParaRPr lang="en-US" sz="3600" dirty="0"/>
          </a:p>
        </p:txBody>
      </p:sp>
      <p:sp>
        <p:nvSpPr>
          <p:cNvPr id="5" name="Text 3"/>
          <p:cNvSpPr/>
          <p:nvPr/>
        </p:nvSpPr>
        <p:spPr>
          <a:xfrm>
            <a:off x="731520" y="2103120"/>
            <a:ext cx="7680960" cy="731520"/>
          </a:xfrm>
          <a:prstGeom prst="rect">
            <a:avLst/>
          </a:prstGeom>
          <a:noFill/>
          <a:ln/>
        </p:spPr>
        <p:txBody>
          <a:bodyPr wrap="square" lIns="0" tIns="0" rIns="0" bIns="0" rtlCol="0" anchor="ctr"/>
          <a:lstStyle/>
          <a:p>
            <a:pPr marL="0" indent="0">
              <a:buNone/>
            </a:pPr>
            <a:r>
              <a:rPr lang="en-US" sz="1600" i="1" dirty="0">
                <a:solidFill>
                  <a:srgbClr val="94A3B8"/>
                </a:solidFill>
                <a:latin typeface="Calibri" pitchFamily="34" charset="0"/>
                <a:ea typeface="Calibri" pitchFamily="34" charset="-122"/>
                <a:cs typeface="Calibri" pitchFamily="34" charset="-120"/>
              </a:rPr>
              <a:t>Every trade, every wallet, every timing advantage -</a:t>
            </a:r>
            <a:endParaRPr lang="en-US" sz="1600" dirty="0"/>
          </a:p>
          <a:p>
            <a:pPr marL="0" indent="0">
              <a:buNone/>
            </a:pPr>
            <a:r>
              <a:rPr lang="en-US" sz="1600" i="1" dirty="0">
                <a:solidFill>
                  <a:srgbClr val="94A3B8"/>
                </a:solidFill>
                <a:latin typeface="Calibri" pitchFamily="34" charset="0"/>
                <a:ea typeface="Calibri" pitchFamily="34" charset="-122"/>
                <a:cs typeface="Calibri" pitchFamily="34" charset="-120"/>
              </a:rPr>
              <a:t>permanently recorded to be systematically readable.</a:t>
            </a:r>
            <a:endParaRPr lang="en-US" sz="1600" dirty="0"/>
          </a:p>
        </p:txBody>
      </p:sp>
      <p:sp>
        <p:nvSpPr>
          <p:cNvPr id="6" name="Shape 4"/>
          <p:cNvSpPr/>
          <p:nvPr/>
        </p:nvSpPr>
        <p:spPr>
          <a:xfrm>
            <a:off x="731520" y="3108960"/>
            <a:ext cx="2286000" cy="36576"/>
          </a:xfrm>
          <a:prstGeom prst="rect">
            <a:avLst/>
          </a:prstGeom>
          <a:solidFill>
            <a:srgbClr val="B91C1C"/>
          </a:solidFill>
          <a:ln/>
        </p:spPr>
        <p:txBody>
          <a:bodyPr/>
          <a:lstStyle/>
          <a:p>
            <a:endParaRPr lang="LID4096"/>
          </a:p>
        </p:txBody>
      </p:sp>
      <p:pic>
        <p:nvPicPr>
          <p:cNvPr id="7" name="Image 0" descr="preencoded.png"/>
          <p:cNvPicPr>
            <a:picLocks noChangeAspect="1"/>
          </p:cNvPicPr>
          <p:nvPr/>
        </p:nvPicPr>
        <p:blipFill>
          <a:blip r:embed="rId3"/>
          <a:stretch>
            <a:fillRect/>
          </a:stretch>
        </p:blipFill>
        <p:spPr>
          <a:xfrm>
            <a:off x="914400" y="3383280"/>
            <a:ext cx="274320" cy="274320"/>
          </a:xfrm>
          <a:prstGeom prst="rect">
            <a:avLst/>
          </a:prstGeom>
        </p:spPr>
      </p:pic>
      <p:sp>
        <p:nvSpPr>
          <p:cNvPr id="8" name="Text 5"/>
          <p:cNvSpPr/>
          <p:nvPr/>
        </p:nvSpPr>
        <p:spPr>
          <a:xfrm>
            <a:off x="1371600" y="3383280"/>
            <a:ext cx="6858000" cy="2743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Prediction markets are not efficient, the data proves it</a:t>
            </a:r>
            <a:endParaRPr lang="en-US" sz="1400" dirty="0"/>
          </a:p>
        </p:txBody>
      </p:sp>
      <p:pic>
        <p:nvPicPr>
          <p:cNvPr id="9" name="Image 1" descr="preencoded.png"/>
          <p:cNvPicPr>
            <a:picLocks noChangeAspect="1"/>
          </p:cNvPicPr>
          <p:nvPr/>
        </p:nvPicPr>
        <p:blipFill>
          <a:blip r:embed="rId3"/>
          <a:stretch>
            <a:fillRect/>
          </a:stretch>
        </p:blipFill>
        <p:spPr>
          <a:xfrm>
            <a:off x="914400" y="3794760"/>
            <a:ext cx="274320" cy="274320"/>
          </a:xfrm>
          <a:prstGeom prst="rect">
            <a:avLst/>
          </a:prstGeom>
        </p:spPr>
      </p:pic>
      <p:sp>
        <p:nvSpPr>
          <p:cNvPr id="10" name="Text 6"/>
          <p:cNvSpPr/>
          <p:nvPr/>
        </p:nvSpPr>
        <p:spPr>
          <a:xfrm>
            <a:off x="1371600" y="3794760"/>
            <a:ext cx="6858000" cy="2743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Blockchain transparency enables forensic-grade analysis</a:t>
            </a:r>
            <a:endParaRPr lang="en-US" sz="1400" dirty="0"/>
          </a:p>
        </p:txBody>
      </p:sp>
      <p:pic>
        <p:nvPicPr>
          <p:cNvPr id="11" name="Image 2" descr="preencoded.png"/>
          <p:cNvPicPr>
            <a:picLocks noChangeAspect="1"/>
          </p:cNvPicPr>
          <p:nvPr/>
        </p:nvPicPr>
        <p:blipFill>
          <a:blip r:embed="rId3"/>
          <a:stretch>
            <a:fillRect/>
          </a:stretch>
        </p:blipFill>
        <p:spPr>
          <a:xfrm>
            <a:off x="914400" y="4206240"/>
            <a:ext cx="274320" cy="274320"/>
          </a:xfrm>
          <a:prstGeom prst="rect">
            <a:avLst/>
          </a:prstGeom>
        </p:spPr>
      </p:pic>
      <p:sp>
        <p:nvSpPr>
          <p:cNvPr id="12" name="Text 7"/>
          <p:cNvSpPr/>
          <p:nvPr/>
        </p:nvSpPr>
        <p:spPr>
          <a:xfrm>
            <a:off x="1371600" y="4206240"/>
            <a:ext cx="6858000" cy="274320"/>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Dual value: profitable trading + market integrity</a:t>
            </a:r>
            <a:endParaRPr lang="en-US" sz="1400" dirty="0"/>
          </a:p>
        </p:txBody>
      </p:sp>
      <p:sp>
        <p:nvSpPr>
          <p:cNvPr id="13" name="Shape 8"/>
          <p:cNvSpPr/>
          <p:nvPr/>
        </p:nvSpPr>
        <p:spPr>
          <a:xfrm>
            <a:off x="0" y="4869180"/>
            <a:ext cx="9144000" cy="274320"/>
          </a:xfrm>
          <a:prstGeom prst="rect">
            <a:avLst/>
          </a:prstGeom>
          <a:solidFill>
            <a:srgbClr val="B91C1C"/>
          </a:solidFill>
          <a:ln/>
        </p:spPr>
        <p:txBody>
          <a:bodyPr/>
          <a:lstStyle/>
          <a:p>
            <a:endParaRPr lang="LID4096"/>
          </a:p>
        </p:txBody>
      </p:sp>
      <p:sp>
        <p:nvSpPr>
          <p:cNvPr id="14" name="Text 9"/>
          <p:cNvSpPr/>
          <p:nvPr/>
        </p:nvSpPr>
        <p:spPr>
          <a:xfrm>
            <a:off x="731520" y="4869180"/>
            <a:ext cx="7680960"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Questions &amp; Discussion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2099</Words>
  <Application>Microsoft Office PowerPoint</Application>
  <PresentationFormat>On-screen Show (16:9)</PresentationFormat>
  <Paragraphs>149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MetaBet: Uncovering Insider Edge in Decentralized Prediction Markets</dc:title>
  <dc:subject>PptxGenJS Presentation</dc:subject>
  <dc:creator>MetaBet</dc:creator>
  <cp:lastModifiedBy>Vitaly Chait</cp:lastModifiedBy>
  <cp:revision>3</cp:revision>
  <dcterms:created xsi:type="dcterms:W3CDTF">2026-04-22T12:55:41Z</dcterms:created>
  <dcterms:modified xsi:type="dcterms:W3CDTF">2026-04-22T13:12:08Z</dcterms:modified>
</cp:coreProperties>
</file>